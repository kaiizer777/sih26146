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56" r:id="rId3"/>
    <p:sldId id="257" r:id="rId4"/>
    <p:sldId id="258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699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Enhance_HeroTopStripe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0" y="1325880"/>
            <a:ext cx="12191695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Enhance_SubtitlePill"/>
          <p:cNvSpPr/>
          <p:nvPr/>
        </p:nvSpPr>
        <p:spPr>
          <a:xfrm>
            <a:off x="3840480" y="2542032"/>
            <a:ext cx="4507992" cy="2743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 7"/>
          <p:cNvSpPr/>
          <p:nvPr/>
        </p:nvSpPr>
        <p:spPr>
          <a:xfrm>
            <a:off x="0" y="2542032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Submission  |  Smart India Hackathon 2026</a:t>
            </a:r>
            <a:endParaRPr lang="en-US" sz="1100" dirty="0"/>
          </a:p>
        </p:txBody>
      </p:sp>
      <p:sp>
        <p:nvSpPr>
          <p:cNvPr id="115" name="Enhance_CardIcon_1"/>
          <p:cNvSpPr/>
          <p:nvPr/>
        </p:nvSpPr>
        <p:spPr>
          <a:xfrm>
            <a:off x="7406640" y="3154679"/>
            <a:ext cx="182880" cy="182880"/>
          </a:xfrm>
          <a:prstGeom prst="ellipse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5800" y="3209544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Enhance_CardInnerStripe_1"/>
          <p:cNvSpPr/>
          <p:nvPr/>
        </p:nvSpPr>
        <p:spPr>
          <a:xfrm>
            <a:off x="621792" y="3017520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Enhance_CardMarkerOuter_1"/>
          <p:cNvSpPr/>
          <p:nvPr/>
        </p:nvSpPr>
        <p:spPr>
          <a:xfrm>
            <a:off x="731520" y="3182112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Enhance_CardMarkerCenter_1"/>
          <p:cNvSpPr/>
          <p:nvPr/>
        </p:nvSpPr>
        <p:spPr>
          <a:xfrm>
            <a:off x="763524" y="321411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3017520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Problem Statement ID:  </a:t>
            </a:r>
            <a:r>
              <a:rPr sz="1200" b="0">
                <a:solidFill>
                  <a:srgbClr val="0F172A"/>
                </a:solidFill>
                <a:latin typeface="Arial"/>
              </a:rPr>
              <a:t>26146</a:t>
            </a:r>
            <a:endParaRPr lang="en-US" sz="1200" dirty="0"/>
          </a:p>
        </p:txBody>
      </p:sp>
      <p:sp>
        <p:nvSpPr>
          <p:cNvPr id="65" name="Enhance_CardInnerStripe_2"/>
          <p:cNvSpPr/>
          <p:nvPr/>
        </p:nvSpPr>
        <p:spPr>
          <a:xfrm>
            <a:off x="621792" y="3529584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Enhance_CardMarkerOuter_2"/>
          <p:cNvSpPr/>
          <p:nvPr/>
        </p:nvSpPr>
        <p:spPr>
          <a:xfrm>
            <a:off x="731520" y="3694176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Enhance_CardMarkerCenter_2"/>
          <p:cNvSpPr/>
          <p:nvPr/>
        </p:nvSpPr>
        <p:spPr>
          <a:xfrm>
            <a:off x="763524" y="3726180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Enhance_CardIcon_2"/>
          <p:cNvSpPr/>
          <p:nvPr/>
        </p:nvSpPr>
        <p:spPr>
          <a:xfrm>
            <a:off x="7406640" y="3666744"/>
            <a:ext cx="182880" cy="182880"/>
          </a:xfrm>
          <a:prstGeom prst="rect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57200" y="3529584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3529584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5800" y="3721608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3529584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Problem Statement Title:  </a:t>
            </a:r>
            <a:r>
              <a:rPr sz="1200" b="0">
                <a:solidFill>
                  <a:srgbClr val="0F172A"/>
                </a:solidFill>
                <a:latin typeface="Arial"/>
              </a:rPr>
              <a:t>AI-Powered Monitoring &amp; Analysis of Bitcoin Transaction Traffic</a:t>
            </a:r>
            <a:endParaRPr lang="en-US" sz="1200" dirty="0"/>
          </a:p>
        </p:txBody>
      </p:sp>
      <p:sp>
        <p:nvSpPr>
          <p:cNvPr id="69" name="Enhance_CardInnerStripe_3"/>
          <p:cNvSpPr/>
          <p:nvPr/>
        </p:nvSpPr>
        <p:spPr>
          <a:xfrm>
            <a:off x="621792" y="4041648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Enhance_CardMarkerOuter_3"/>
          <p:cNvSpPr/>
          <p:nvPr/>
        </p:nvSpPr>
        <p:spPr>
          <a:xfrm>
            <a:off x="731520" y="4206240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Enhance_CardMarkerCenter_3"/>
          <p:cNvSpPr/>
          <p:nvPr/>
        </p:nvSpPr>
        <p:spPr>
          <a:xfrm>
            <a:off x="763524" y="4238244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Enhance_CardIcon_3"/>
          <p:cNvSpPr/>
          <p:nvPr/>
        </p:nvSpPr>
        <p:spPr>
          <a:xfrm>
            <a:off x="7406640" y="4178808"/>
            <a:ext cx="182880" cy="182880"/>
          </a:xfrm>
          <a:prstGeom prst="chevron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hape 16"/>
          <p:cNvSpPr/>
          <p:nvPr/>
        </p:nvSpPr>
        <p:spPr>
          <a:xfrm>
            <a:off x="457200" y="4041648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4041648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85800" y="4233672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8680" y="4041648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Theme:  </a:t>
            </a:r>
            <a:r>
              <a:rPr sz="1200" b="0">
                <a:solidFill>
                  <a:srgbClr val="0F172A"/>
                </a:solidFill>
                <a:latin typeface="Arial"/>
              </a:rPr>
              <a:t>Blockchain &amp; Cybersecurity</a:t>
            </a:r>
            <a:endParaRPr lang="en-US" sz="1200" dirty="0"/>
          </a:p>
        </p:txBody>
      </p:sp>
      <p:sp>
        <p:nvSpPr>
          <p:cNvPr id="73" name="Enhance_CardInnerStripe_4"/>
          <p:cNvSpPr/>
          <p:nvPr/>
        </p:nvSpPr>
        <p:spPr>
          <a:xfrm>
            <a:off x="621792" y="4553712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Enhance_CardMarkerOuter_4"/>
          <p:cNvSpPr/>
          <p:nvPr/>
        </p:nvSpPr>
        <p:spPr>
          <a:xfrm>
            <a:off x="731520" y="4718304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Enhance_CardMarkerCenter_4"/>
          <p:cNvSpPr/>
          <p:nvPr/>
        </p:nvSpPr>
        <p:spPr>
          <a:xfrm>
            <a:off x="763524" y="4750308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Enhance_CardIcon_4"/>
          <p:cNvSpPr/>
          <p:nvPr/>
        </p:nvSpPr>
        <p:spPr>
          <a:xfrm>
            <a:off x="7406640" y="4690872"/>
            <a:ext cx="182880" cy="182880"/>
          </a:xfrm>
          <a:prstGeom prst="diamond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hape 20"/>
          <p:cNvSpPr/>
          <p:nvPr/>
        </p:nvSpPr>
        <p:spPr>
          <a:xfrm>
            <a:off x="457200" y="4553712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4553712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85800" y="4745736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68680" y="4553712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PS Category:  </a:t>
            </a:r>
            <a:r>
              <a:rPr sz="1200" b="0">
                <a:solidFill>
                  <a:srgbClr val="0F172A"/>
                </a:solidFill>
                <a:latin typeface="Arial"/>
              </a:rPr>
              <a:t>Software</a:t>
            </a:r>
            <a:endParaRPr lang="en-US" sz="1200" dirty="0"/>
          </a:p>
        </p:txBody>
      </p:sp>
      <p:sp>
        <p:nvSpPr>
          <p:cNvPr id="77" name="Enhance_CardInnerStripe_5"/>
          <p:cNvSpPr/>
          <p:nvPr/>
        </p:nvSpPr>
        <p:spPr>
          <a:xfrm>
            <a:off x="621792" y="5065776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Enhance_CardMarkerOuter_5"/>
          <p:cNvSpPr/>
          <p:nvPr/>
        </p:nvSpPr>
        <p:spPr>
          <a:xfrm>
            <a:off x="731520" y="5230368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Enhance_CardMarkerCenter_5"/>
          <p:cNvSpPr/>
          <p:nvPr/>
        </p:nvSpPr>
        <p:spPr>
          <a:xfrm>
            <a:off x="763524" y="5262372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Enhance_CardIcon_5"/>
          <p:cNvSpPr/>
          <p:nvPr/>
        </p:nvSpPr>
        <p:spPr>
          <a:xfrm>
            <a:off x="7406640" y="5202936"/>
            <a:ext cx="182880" cy="182880"/>
          </a:xfrm>
          <a:prstGeom prst="triangle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Shape 24"/>
          <p:cNvSpPr/>
          <p:nvPr/>
        </p:nvSpPr>
        <p:spPr>
          <a:xfrm>
            <a:off x="457200" y="5065776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57200" y="5065776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85800" y="5257800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8680" y="5065776"/>
            <a:ext cx="6355080" cy="457200"/>
          </a:xfrm>
          <a:prstGeom prst="rect">
            <a:avLst/>
          </a:prstGeom>
          <a:noFill/>
          <a:ln/>
          <a:effectLst>
            <a:outerShdw blurRad="127000" dist="25400" dir="5400000" algn="ctr" rotWithShape="0">
              <a:srgbClr val="1F3864">
                <a:alpha val="22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Team ID:  </a:t>
            </a:r>
            <a:endParaRPr lang="en-US" sz="1200" dirty="0"/>
          </a:p>
        </p:txBody>
      </p:sp>
      <p:sp>
        <p:nvSpPr>
          <p:cNvPr id="81" name="Enhance_CardInnerStripe_6"/>
          <p:cNvSpPr/>
          <p:nvPr/>
        </p:nvSpPr>
        <p:spPr>
          <a:xfrm>
            <a:off x="621792" y="5577840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Enhance_CardMarkerOuter_6"/>
          <p:cNvSpPr/>
          <p:nvPr/>
        </p:nvSpPr>
        <p:spPr>
          <a:xfrm>
            <a:off x="731520" y="5742431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Enhance_CardMarkerCenter_6"/>
          <p:cNvSpPr/>
          <p:nvPr/>
        </p:nvSpPr>
        <p:spPr>
          <a:xfrm>
            <a:off x="763524" y="577443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Enhance_CardIcon_6"/>
          <p:cNvSpPr/>
          <p:nvPr/>
        </p:nvSpPr>
        <p:spPr>
          <a:xfrm>
            <a:off x="7406640" y="5715000"/>
            <a:ext cx="182880" cy="182880"/>
          </a:xfrm>
          <a:prstGeom prst="hexagon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Shape 28"/>
          <p:cNvSpPr/>
          <p:nvPr/>
        </p:nvSpPr>
        <p:spPr>
          <a:xfrm>
            <a:off x="457200" y="5577840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57200" y="5577840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85800" y="5769864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68680" y="55778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Team Name:  </a:t>
            </a:r>
            <a:r>
              <a:rPr sz="1200" b="0">
                <a:solidFill>
                  <a:srgbClr val="0F172A"/>
                </a:solidFill>
                <a:latin typeface="Arial"/>
              </a:rPr>
              <a:t>AlertX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680960" y="3017520"/>
            <a:ext cx="4114800" cy="3017520"/>
          </a:xfrm>
          <a:prstGeom prst="roundRect">
            <a:avLst>
              <a:gd name="adj" fmla="val 2424"/>
            </a:avLst>
          </a:prstGeom>
          <a:noFill/>
          <a:ln w="12700">
            <a:noFill/>
            <a:prstDash val="solid"/>
          </a:ln>
          <a:effectLst>
            <a:outerShdw blurRad="152400" dist="25400" dir="5400000" algn="ctr" rotWithShape="0">
              <a:srgbClr val="000000">
                <a:alpha val="12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Enhance_HexDotPattern_1"/>
          <p:cNvSpPr/>
          <p:nvPr/>
        </p:nvSpPr>
        <p:spPr>
          <a:xfrm>
            <a:off x="8229600" y="35204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Enhance_HexDotPattern_2"/>
          <p:cNvSpPr/>
          <p:nvPr/>
        </p:nvSpPr>
        <p:spPr>
          <a:xfrm>
            <a:off x="8686800" y="3749039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Enhance_HexDotPattern_3"/>
          <p:cNvSpPr/>
          <p:nvPr/>
        </p:nvSpPr>
        <p:spPr>
          <a:xfrm>
            <a:off x="9144000" y="347472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Enhance_HexDotPattern_4"/>
          <p:cNvSpPr/>
          <p:nvPr/>
        </p:nvSpPr>
        <p:spPr>
          <a:xfrm>
            <a:off x="9601200" y="384048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Enhance_HexDotPattern_5"/>
          <p:cNvSpPr/>
          <p:nvPr/>
        </p:nvSpPr>
        <p:spPr>
          <a:xfrm>
            <a:off x="10058400" y="35204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Enhance_HexDotPattern_6"/>
          <p:cNvSpPr/>
          <p:nvPr/>
        </p:nvSpPr>
        <p:spPr>
          <a:xfrm>
            <a:off x="10515600" y="3749039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Enhance_HexDotPattern_7"/>
          <p:cNvSpPr/>
          <p:nvPr/>
        </p:nvSpPr>
        <p:spPr>
          <a:xfrm>
            <a:off x="10972800" y="35204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Enhance_HexDotPattern_8"/>
          <p:cNvSpPr/>
          <p:nvPr/>
        </p:nvSpPr>
        <p:spPr>
          <a:xfrm>
            <a:off x="11247120" y="393192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Enhance_HexDotPattern_9"/>
          <p:cNvSpPr/>
          <p:nvPr/>
        </p:nvSpPr>
        <p:spPr>
          <a:xfrm>
            <a:off x="8412480" y="53492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Enhance_HexDotPattern_10"/>
          <p:cNvSpPr/>
          <p:nvPr/>
        </p:nvSpPr>
        <p:spPr>
          <a:xfrm>
            <a:off x="8869680" y="548640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Enhance_HexDotPattern_11"/>
          <p:cNvSpPr/>
          <p:nvPr/>
        </p:nvSpPr>
        <p:spPr>
          <a:xfrm>
            <a:off x="10789920" y="539496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Enhance_HexDotPattern_12"/>
          <p:cNvSpPr/>
          <p:nvPr/>
        </p:nvSpPr>
        <p:spPr>
          <a:xfrm>
            <a:off x="11155680" y="548640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Shape 33"/>
          <p:cNvSpPr/>
          <p:nvPr/>
        </p:nvSpPr>
        <p:spPr>
          <a:xfrm>
            <a:off x="7863840" y="3200400"/>
            <a:ext cx="3749040" cy="2514600"/>
          </a:xfrm>
          <a:prstGeom prst="roundRect">
            <a:avLst>
              <a:gd name="adj" fmla="val 2182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144000" y="3611879"/>
            <a:ext cx="1188720" cy="1554480"/>
          </a:xfrm>
          <a:prstGeom prst="rect">
            <a:avLst/>
          </a:prstGeom>
          <a:noFill/>
          <a:ln/>
          <a:effectLst>
            <a:outerShdw blurRad="127000" dist="25400" dir="5400000" algn="ctr" rotWithShape="0">
              <a:srgbClr val="1F3864">
                <a:alpha val="22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0" dirty="0"/>
          </a:p>
        </p:txBody>
      </p:sp>
      <p:sp>
        <p:nvSpPr>
          <p:cNvPr id="39" name="Shape 36"/>
          <p:cNvSpPr/>
          <p:nvPr/>
        </p:nvSpPr>
        <p:spPr>
          <a:xfrm>
            <a:off x="10396112" y="373532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10395813" y="469544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  <a:effectLst>
            <a:outerShdw blurRad="127000" dist="25400" dir="5400000" algn="ctr" rotWithShape="0">
              <a:srgbClr val="1F3864">
                <a:alpha val="22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564624" y="517550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733136" y="469544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733136" y="373532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7680960" y="5760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 |  AML  |  NTRO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647895" y="6355994"/>
            <a:ext cx="3204057" cy="364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008815" y="0"/>
            <a:ext cx="18288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Enhance_HeroHexWatermark_1"/>
          <p:cNvSpPr/>
          <p:nvPr/>
        </p:nvSpPr>
        <p:spPr>
          <a:xfrm>
            <a:off x="8595360" y="45720"/>
            <a:ext cx="164592" cy="164592"/>
          </a:xfrm>
          <a:prstGeom prst="hexagon">
            <a:avLst/>
          </a:prstGeom>
          <a:solidFill>
            <a:srgbClr val="BFDBF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Enhance_HeroHexWatermark_2"/>
          <p:cNvSpPr/>
          <p:nvPr/>
        </p:nvSpPr>
        <p:spPr>
          <a:xfrm>
            <a:off x="9079992" y="0"/>
            <a:ext cx="201168" cy="201168"/>
          </a:xfrm>
          <a:prstGeom prst="hexagon">
            <a:avLst/>
          </a:prstGeom>
          <a:solidFill>
            <a:srgbClr val="BFDBFE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Enhance_HeroHexWatermark_3"/>
          <p:cNvSpPr/>
          <p:nvPr/>
        </p:nvSpPr>
        <p:spPr>
          <a:xfrm>
            <a:off x="9646920" y="36576"/>
            <a:ext cx="164592" cy="164592"/>
          </a:xfrm>
          <a:prstGeom prst="hexagon">
            <a:avLst/>
          </a:prstGeom>
          <a:solidFill>
            <a:srgbClr val="BFDBFE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Enhance_HeroHexWatermark_4"/>
          <p:cNvSpPr/>
          <p:nvPr/>
        </p:nvSpPr>
        <p:spPr>
          <a:xfrm>
            <a:off x="10149840" y="5412"/>
            <a:ext cx="182880" cy="182880"/>
          </a:xfrm>
          <a:prstGeom prst="hexagon">
            <a:avLst/>
          </a:prstGeom>
          <a:solidFill>
            <a:srgbClr val="BFDB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155448"/>
            <a:ext cx="9784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3400" dirty="0"/>
          </a:p>
        </p:txBody>
      </p:sp>
      <p:sp>
        <p:nvSpPr>
          <p:cNvPr id="97" name="Enhance_OrbitRing_1"/>
          <p:cNvSpPr/>
          <p:nvPr/>
        </p:nvSpPr>
        <p:spPr>
          <a:xfrm>
            <a:off x="8915400" y="3566160"/>
            <a:ext cx="1645920" cy="1645920"/>
          </a:xfrm>
          <a:prstGeom prst="ellipse">
            <a:avLst/>
          </a:prstGeom>
          <a:noFill/>
          <a:ln w="15875">
            <a:solidFill>
              <a:srgbClr val="2563EB">
                <a:alpha val="28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Enhance_OrbitRing_2"/>
          <p:cNvSpPr/>
          <p:nvPr/>
        </p:nvSpPr>
        <p:spPr>
          <a:xfrm>
            <a:off x="8549640" y="3200400"/>
            <a:ext cx="2377440" cy="2377440"/>
          </a:xfrm>
          <a:prstGeom prst="ellipse">
            <a:avLst/>
          </a:prstGeom>
          <a:noFill/>
          <a:ln w="12700">
            <a:solidFill>
              <a:srgbClr val="2563EB">
                <a:alpha val="22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Enhance_OrbitRing_3"/>
          <p:cNvSpPr/>
          <p:nvPr/>
        </p:nvSpPr>
        <p:spPr>
          <a:xfrm>
            <a:off x="8229600" y="2880360"/>
            <a:ext cx="3017520" cy="3017520"/>
          </a:xfrm>
          <a:prstGeom prst="ellipse">
            <a:avLst/>
          </a:prstGeom>
          <a:noFill/>
          <a:ln w="9525">
            <a:solidFill>
              <a:srgbClr val="2563EB">
                <a:alpha val="18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Shape 35"/>
          <p:cNvSpPr/>
          <p:nvPr/>
        </p:nvSpPr>
        <p:spPr>
          <a:xfrm>
            <a:off x="9564624" y="325526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 flipV="1">
            <a:off x="5410505" y="1783993"/>
            <a:ext cx="1371600" cy="4571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GoldAccentHighlight"/>
          <p:cNvSpPr/>
          <p:nvPr/>
        </p:nvSpPr>
        <p:spPr>
          <a:xfrm>
            <a:off x="0" y="1325880"/>
            <a:ext cx="12191695" cy="182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Enhance_AlertXBackdrop"/>
          <p:cNvSpPr/>
          <p:nvPr/>
        </p:nvSpPr>
        <p:spPr>
          <a:xfrm>
            <a:off x="2286000" y="1691640"/>
            <a:ext cx="7616952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>
            <a:outerShdw blurRad="152400" dist="25400" dir="5400000" algn="ctr" rotWithShape="0">
              <a:srgbClr val="000000">
                <a:alpha val="8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Enhance_AlertXBackdropTopRule"/>
          <p:cNvSpPr/>
          <p:nvPr/>
        </p:nvSpPr>
        <p:spPr>
          <a:xfrm>
            <a:off x="2286000" y="1691640"/>
            <a:ext cx="76169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Enhance_AlertXBackdropBottomRule"/>
          <p:cNvSpPr/>
          <p:nvPr/>
        </p:nvSpPr>
        <p:spPr>
          <a:xfrm>
            <a:off x="2286000" y="2798064"/>
            <a:ext cx="76169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Enhance_AlertXBShield"/>
          <p:cNvSpPr/>
          <p:nvPr/>
        </p:nvSpPr>
        <p:spPr>
          <a:xfrm>
            <a:off x="2834640" y="1874519"/>
            <a:ext cx="822960" cy="822960"/>
          </a:xfrm>
          <a:prstGeom prst="ellipse">
            <a:avLst/>
          </a:prstGeom>
          <a:solidFill>
            <a:srgbClr val="1F3864"/>
          </a:solidFill>
          <a:ln>
            <a:noFill/>
          </a:ln>
          <a:effectLst>
            <a:outerShdw blurRad="76200" dist="12700" dir="5400000" algn="ctr" rotWithShape="0">
              <a:srgbClr val="000000">
                <a:alpha val="14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Enhance_FooterDiamond"/>
          <p:cNvSpPr/>
          <p:nvPr/>
        </p:nvSpPr>
        <p:spPr>
          <a:xfrm>
            <a:off x="365760" y="6510528"/>
            <a:ext cx="182880" cy="1828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Enhance_FooterLabel"/>
          <p:cNvSpPr/>
          <p:nvPr/>
        </p:nvSpPr>
        <p:spPr>
          <a:xfrm>
            <a:off x="640080" y="6492240"/>
            <a:ext cx="2011680" cy="256032"/>
          </a:xfrm>
          <a:prstGeom prst="rect">
            <a:avLst/>
          </a:prstGeom>
          <a:solidFill>
            <a:srgbClr val="F8FAFC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1791" y="352044"/>
            <a:ext cx="1417320" cy="777240"/>
          </a:xfrm>
          <a:prstGeom prst="rect">
            <a:avLst/>
          </a:prstGeom>
          <a:ln>
            <a:noFill/>
          </a:ln>
        </p:spPr>
      </p:pic>
      <p:cxnSp>
        <p:nvCxnSpPr>
          <p:cNvPr id="54" name="Enhance_HeroAccentLine"/>
          <p:cNvCxnSpPr>
            <a:cxnSpLocks/>
          </p:cNvCxnSpPr>
          <p:nvPr/>
        </p:nvCxnSpPr>
        <p:spPr>
          <a:xfrm>
            <a:off x="10058400" y="324612"/>
            <a:ext cx="0" cy="804672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6"/>
          <p:cNvSpPr/>
          <p:nvPr/>
        </p:nvSpPr>
        <p:spPr>
          <a:xfrm>
            <a:off x="0" y="1755648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u="sng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AlertX</a:t>
            </a:r>
            <a:endParaRPr lang="en-US" sz="4400" dirty="0"/>
          </a:p>
        </p:txBody>
      </p:sp>
      <p:sp>
        <p:nvSpPr>
          <p:cNvPr id="59" name="Enhance_AlertXBShieldGlyph"/>
          <p:cNvSpPr txBox="1"/>
          <p:nvPr/>
        </p:nvSpPr>
        <p:spPr>
          <a:xfrm>
            <a:off x="2834640" y="1920240"/>
            <a:ext cx="82296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45" name="Shape 42"/>
          <p:cNvSpPr/>
          <p:nvPr/>
        </p:nvSpPr>
        <p:spPr>
          <a:xfrm>
            <a:off x="0" y="6355994"/>
            <a:ext cx="12191695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Enhance_FooterLabelText"/>
          <p:cNvSpPr txBox="1"/>
          <p:nvPr/>
        </p:nvSpPr>
        <p:spPr>
          <a:xfrm>
            <a:off x="713232" y="6492240"/>
            <a:ext cx="19202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spc="100">
                <a:solidFill>
                  <a:srgbClr val="2563EB"/>
                </a:solidFill>
                <a:latin typeface="Arial"/>
              </a:rPr>
              <a:t>Cover - Submission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nhance_S2_FooterDiamond"/>
          <p:cNvSpPr/>
          <p:nvPr/>
        </p:nvSpPr>
        <p:spPr>
          <a:xfrm>
            <a:off x="365760" y="6510528"/>
            <a:ext cx="182880" cy="1828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Enhance_S2_FooterLabelBg"/>
          <p:cNvSpPr/>
          <p:nvPr/>
        </p:nvSpPr>
        <p:spPr>
          <a:xfrm>
            <a:off x="640080" y="6492240"/>
            <a:ext cx="2377440" cy="256032"/>
          </a:xfrm>
          <a:prstGeom prst="rect">
            <a:avLst/>
          </a:prstGeom>
          <a:solidFill>
            <a:srgbClr val="F8FAFC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4647895" y="6355994"/>
            <a:ext cx="3204057" cy="364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50930" y="614445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61723" y="394903"/>
            <a:ext cx="47237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200" dirty="0"/>
          </a:p>
        </p:txBody>
      </p:sp>
      <p:pic>
        <p:nvPicPr>
          <p:cNvPr id="7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9" name="Enhance_S2_TitleTintBand"/>
          <p:cNvSpPr/>
          <p:nvPr/>
        </p:nvSpPr>
        <p:spPr>
          <a:xfrm>
            <a:off x="6817318" y="2986364"/>
            <a:ext cx="4846320" cy="548640"/>
          </a:xfrm>
          <a:prstGeom prst="rect">
            <a:avLst/>
          </a:prstGeom>
          <a:solidFill>
            <a:srgbClr val="EFF6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nhance_S2_TitleAccentRule"/>
          <p:cNvSpPr/>
          <p:nvPr/>
        </p:nvSpPr>
        <p:spPr>
          <a:xfrm>
            <a:off x="3237618" y="986056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hape 5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011680" y="13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sp>
        <p:nvSpPr>
          <p:cNvPr id="21" name="Enhance_S2_PillarCard_1"/>
          <p:cNvSpPr/>
          <p:nvPr/>
        </p:nvSpPr>
        <p:spPr>
          <a:xfrm>
            <a:off x="164592" y="1280160"/>
            <a:ext cx="5029200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Enhance_S2_PillarStripe_1"/>
          <p:cNvSpPr/>
          <p:nvPr/>
        </p:nvSpPr>
        <p:spPr>
          <a:xfrm>
            <a:off x="164592" y="1280160"/>
            <a:ext cx="91440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Enhance_S2_BgDot_1"/>
          <p:cNvSpPr/>
          <p:nvPr/>
        </p:nvSpPr>
        <p:spPr>
          <a:xfrm>
            <a:off x="411480" y="1298448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Enhance_S2_BgDot_2"/>
          <p:cNvSpPr/>
          <p:nvPr/>
        </p:nvSpPr>
        <p:spPr>
          <a:xfrm>
            <a:off x="5029200" y="132588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Enhance_S2_BgDot_3"/>
          <p:cNvSpPr/>
          <p:nvPr/>
        </p:nvSpPr>
        <p:spPr>
          <a:xfrm>
            <a:off x="411480" y="29260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Enhance_S2_BgDot_4"/>
          <p:cNvSpPr/>
          <p:nvPr/>
        </p:nvSpPr>
        <p:spPr>
          <a:xfrm>
            <a:off x="5029200" y="320040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Enhance_S2_BgDot_5"/>
          <p:cNvSpPr/>
          <p:nvPr/>
        </p:nvSpPr>
        <p:spPr>
          <a:xfrm>
            <a:off x="411480" y="393192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Enhance_S2_BgDot_6"/>
          <p:cNvSpPr/>
          <p:nvPr/>
        </p:nvSpPr>
        <p:spPr>
          <a:xfrm>
            <a:off x="5029200" y="46634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Enhance_S2_BgDot_7"/>
          <p:cNvSpPr/>
          <p:nvPr/>
        </p:nvSpPr>
        <p:spPr>
          <a:xfrm>
            <a:off x="411480" y="49377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Enhance_S2_BgDot_8"/>
          <p:cNvSpPr/>
          <p:nvPr/>
        </p:nvSpPr>
        <p:spPr>
          <a:xfrm>
            <a:off x="5029200" y="594360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Enhance_S2_BgDot_9"/>
          <p:cNvSpPr/>
          <p:nvPr/>
        </p:nvSpPr>
        <p:spPr>
          <a:xfrm>
            <a:off x="5349240" y="118872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Enhance_S2_BgDot_10"/>
          <p:cNvSpPr/>
          <p:nvPr/>
        </p:nvSpPr>
        <p:spPr>
          <a:xfrm>
            <a:off x="11978640" y="118872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Enhance_S2_BgDot_11"/>
          <p:cNvSpPr/>
          <p:nvPr/>
        </p:nvSpPr>
        <p:spPr>
          <a:xfrm>
            <a:off x="5349240" y="60350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Enhance_S2_BgDot_12"/>
          <p:cNvSpPr/>
          <p:nvPr/>
        </p:nvSpPr>
        <p:spPr>
          <a:xfrm>
            <a:off x="11978640" y="60350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Enhance_S2_BgDot_13"/>
          <p:cNvSpPr/>
          <p:nvPr/>
        </p:nvSpPr>
        <p:spPr>
          <a:xfrm>
            <a:off x="2743200" y="594360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Enhance_S2_BgDot_14"/>
          <p:cNvSpPr/>
          <p:nvPr/>
        </p:nvSpPr>
        <p:spPr>
          <a:xfrm>
            <a:off x="4572000" y="594360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Enhance_S2_BgDot_15"/>
          <p:cNvSpPr/>
          <p:nvPr/>
        </p:nvSpPr>
        <p:spPr>
          <a:xfrm>
            <a:off x="7315200" y="608076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Enhance_S2_BgDot_16"/>
          <p:cNvSpPr/>
          <p:nvPr/>
        </p:nvSpPr>
        <p:spPr>
          <a:xfrm>
            <a:off x="10058400" y="608076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Enhance_S2_BgDot_17"/>
          <p:cNvSpPr/>
          <p:nvPr/>
        </p:nvSpPr>
        <p:spPr>
          <a:xfrm>
            <a:off x="27432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Enhance_S2_BgDot_18"/>
          <p:cNvSpPr/>
          <p:nvPr/>
        </p:nvSpPr>
        <p:spPr>
          <a:xfrm>
            <a:off x="45720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Enhance_S2_BgDot_19"/>
          <p:cNvSpPr/>
          <p:nvPr/>
        </p:nvSpPr>
        <p:spPr>
          <a:xfrm>
            <a:off x="73152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Enhance_S2_BgDot_20"/>
          <p:cNvSpPr/>
          <p:nvPr/>
        </p:nvSpPr>
        <p:spPr>
          <a:xfrm>
            <a:off x="100584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9"/>
          <p:cNvSpPr/>
          <p:nvPr/>
        </p:nvSpPr>
        <p:spPr>
          <a:xfrm>
            <a:off x="164592" y="1280160"/>
            <a:ext cx="5029200" cy="987552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 SYSTEM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SIH26146 — an end-to-end, fully air-gapped platform fusing offline blockchain graph analytics, MaxMind GeoIP/ASN enrichment, and CPU-only deep learning to flag illicit Bitcoin transaction patterns and emit court-admissible forensic dossiers for NTRO cyber-surveillance analysts.</a:t>
            </a:r>
            <a:endParaRPr lang="en-US" sz="1200" dirty="0"/>
          </a:p>
        </p:txBody>
      </p:sp>
      <p:sp>
        <p:nvSpPr>
          <p:cNvPr id="23" name="Enhance_S2_PillarCard_2"/>
          <p:cNvSpPr/>
          <p:nvPr/>
        </p:nvSpPr>
        <p:spPr>
          <a:xfrm>
            <a:off x="164592" y="2267712"/>
            <a:ext cx="5029200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Enhance_S2_PillarStripe_2"/>
          <p:cNvSpPr/>
          <p:nvPr/>
        </p:nvSpPr>
        <p:spPr>
          <a:xfrm>
            <a:off x="164592" y="2267712"/>
            <a:ext cx="91440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 10"/>
          <p:cNvSpPr/>
          <p:nvPr/>
        </p:nvSpPr>
        <p:spPr>
          <a:xfrm>
            <a:off x="164592" y="2267712"/>
            <a:ext cx="5029200" cy="987552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1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MULTI-LAYER INGESTION &amp; CORRELATION  ·  Bulk CSV / JSON / XML traffic captures flow through FastAPI + Celery (Redis broker), are enriched offline with MaxMind GeoLite2 (City + ASN), and persisted via binary COPY into PostgreSQL 16 and Neo4j 5.26 + GDS 2.13.</a:t>
            </a:r>
            <a:endParaRPr lang="en-US" sz="1200" dirty="0"/>
          </a:p>
        </p:txBody>
      </p:sp>
      <p:sp>
        <p:nvSpPr>
          <p:cNvPr id="25" name="Enhance_S2_PillarCard_3"/>
          <p:cNvSpPr/>
          <p:nvPr/>
        </p:nvSpPr>
        <p:spPr>
          <a:xfrm>
            <a:off x="164592" y="3255264"/>
            <a:ext cx="5029200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Enhance_S2_PillarStripe_3"/>
          <p:cNvSpPr/>
          <p:nvPr/>
        </p:nvSpPr>
        <p:spPr>
          <a:xfrm>
            <a:off x="164592" y="3255264"/>
            <a:ext cx="91440" cy="9875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 11"/>
          <p:cNvSpPr/>
          <p:nvPr/>
        </p:nvSpPr>
        <p:spPr>
          <a:xfrm>
            <a:off x="164592" y="3255264"/>
            <a:ext cx="5029200" cy="987552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2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GRAPH ANALYTICS &amp; ANOMALY CORE  ·  Neo4j Louvain community detection plus CIOH (Common-Input-Ownership) heuristics cluster multi-input entities; a 7-layer PyTorch Autoencoder and FT-Transformer score 18-feature transactions (F1 = 0.6972, latency 0.0222 ms) on CPU alone.</a:t>
            </a:r>
            <a:endParaRPr lang="en-US" sz="1200" dirty="0"/>
          </a:p>
        </p:txBody>
      </p:sp>
      <p:sp>
        <p:nvSpPr>
          <p:cNvPr id="27" name="Enhance_S2_PillarCard_4"/>
          <p:cNvSpPr/>
          <p:nvPr/>
        </p:nvSpPr>
        <p:spPr>
          <a:xfrm>
            <a:off x="164592" y="4242816"/>
            <a:ext cx="5029200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Enhance_S2_PillarStripe_4"/>
          <p:cNvSpPr/>
          <p:nvPr/>
        </p:nvSpPr>
        <p:spPr>
          <a:xfrm>
            <a:off x="164592" y="4242816"/>
            <a:ext cx="91440" cy="9875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12"/>
          <p:cNvSpPr/>
          <p:nvPr/>
        </p:nvSpPr>
        <p:spPr>
          <a:xfrm>
            <a:off x="164592" y="4242816"/>
            <a:ext cx="5029200" cy="987552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3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LAUNDERING PATTERN ENGINE  ·  Deterministic Cypher rules detect peeling chains (97.2 % recall ≥ 5 hops) and CoinJoin mixers (100 % recall ≥ 3-in / ≥ 3-out equal denominations); a Graph Transformer (F1 = 0.9209, AUC = 0.9956) propagates risk from Ransomwhere seed entities across 24,673 wallets.</a:t>
            </a:r>
            <a:endParaRPr lang="en-US" sz="1200" dirty="0"/>
          </a:p>
        </p:txBody>
      </p:sp>
      <p:sp>
        <p:nvSpPr>
          <p:cNvPr id="29" name="Enhance_S2_PillarCard_5"/>
          <p:cNvSpPr/>
          <p:nvPr/>
        </p:nvSpPr>
        <p:spPr>
          <a:xfrm>
            <a:off x="164592" y="5230368"/>
            <a:ext cx="5029200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Enhance_S2_PillarStripe_5"/>
          <p:cNvSpPr/>
          <p:nvPr/>
        </p:nvSpPr>
        <p:spPr>
          <a:xfrm>
            <a:off x="164592" y="5230368"/>
            <a:ext cx="91440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13"/>
          <p:cNvSpPr/>
          <p:nvPr/>
        </p:nvSpPr>
        <p:spPr>
          <a:xfrm>
            <a:off x="164592" y="5230368"/>
            <a:ext cx="5029200" cy="987552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4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EXPLAINABLE TACTICAL DASHBOARD  ·  SHAP waterfall plus GNNExplainer subgraphs power a Next.js 16 Tactical Command Center with a master alert grid, D3 force graph, and 1-click JSON / PDF dossier export — running 100 % air-gapped on commodity CPU hardware.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229453" y="1107338"/>
            <a:ext cx="6943953" cy="500908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ctr" rotWithShape="0">
              <a:srgbClr val="1F3864">
                <a:alpha val="12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C:\Users\bari2\Desktop\SIH26146\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362" y="1106973"/>
            <a:ext cx="6944319" cy="4989331"/>
          </a:xfrm>
          <a:prstGeom prst="rect">
            <a:avLst/>
          </a:prstGeom>
        </p:spPr>
      </p:pic>
      <p:sp>
        <p:nvSpPr>
          <p:cNvPr id="33" name="Enhance_S2_Corner_TL_H"/>
          <p:cNvSpPr/>
          <p:nvPr/>
        </p:nvSpPr>
        <p:spPr>
          <a:xfrm>
            <a:off x="5211165" y="1107338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Enhance_S2_Corner_TL_V"/>
          <p:cNvSpPr/>
          <p:nvPr/>
        </p:nvSpPr>
        <p:spPr>
          <a:xfrm>
            <a:off x="5211165" y="1107338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Enhance_S2_Corner_TR_H"/>
          <p:cNvSpPr/>
          <p:nvPr/>
        </p:nvSpPr>
        <p:spPr>
          <a:xfrm>
            <a:off x="11917375" y="1107338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Enhance_S2_Corner_TR_V"/>
          <p:cNvSpPr/>
          <p:nvPr/>
        </p:nvSpPr>
        <p:spPr>
          <a:xfrm>
            <a:off x="12155119" y="1107338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Enhance_S2_Corner_BL_H"/>
          <p:cNvSpPr/>
          <p:nvPr/>
        </p:nvSpPr>
        <p:spPr>
          <a:xfrm>
            <a:off x="5211165" y="6097219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Enhance_S2_Corner_BL_V"/>
          <p:cNvSpPr/>
          <p:nvPr/>
        </p:nvSpPr>
        <p:spPr>
          <a:xfrm>
            <a:off x="5211165" y="5859475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Enhance_S2_Corner_BR_H"/>
          <p:cNvSpPr/>
          <p:nvPr/>
        </p:nvSpPr>
        <p:spPr>
          <a:xfrm>
            <a:off x="11917375" y="6097219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Enhance_S2_Corner_BR_V"/>
          <p:cNvSpPr/>
          <p:nvPr/>
        </p:nvSpPr>
        <p:spPr>
          <a:xfrm>
            <a:off x="12155119" y="5859475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6355994"/>
            <a:ext cx="12191695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Enhance_S2_FooterLabelText"/>
          <p:cNvSpPr txBox="1"/>
          <p:nvPr/>
        </p:nvSpPr>
        <p:spPr>
          <a:xfrm>
            <a:off x="713232" y="6492240"/>
            <a:ext cx="2286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spc="100">
                <a:solidFill>
                  <a:srgbClr val="2563EB"/>
                </a:solidFill>
                <a:latin typeface="Arial"/>
              </a:rPr>
              <a:t>Proposed Solution  --  SIH26146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176" y="182880"/>
            <a:ext cx="64008" cy="61209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38817" y="13277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40345" y="472149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11999" y="304677"/>
            <a:ext cx="7452360" cy="57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TECHNICAL APPROACH</a:t>
            </a:r>
            <a:endParaRPr lang="en-US" sz="28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24757A-6B62-2741-FC03-C36D9C7A7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908546"/>
            <a:ext cx="12185522" cy="59494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61722"/>
            <a:ext cx="8229600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9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43737" y="519389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76177" y="261258"/>
            <a:ext cx="5917852" cy="707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spc="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63" name="CardBody_0"/>
          <p:cNvSpPr/>
          <p:nvPr/>
        </p:nvSpPr>
        <p:spPr>
          <a:xfrm>
            <a:off x="182880" y="1005840"/>
            <a:ext cx="5852160" cy="169164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CardTitleBar_0"/>
          <p:cNvSpPr/>
          <p:nvPr/>
        </p:nvSpPr>
        <p:spPr>
          <a:xfrm>
            <a:off x="182880" y="1005840"/>
            <a:ext cx="58521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CardTitleText_0"/>
          <p:cNvSpPr txBox="1"/>
          <p:nvPr/>
        </p:nvSpPr>
        <p:spPr>
          <a:xfrm>
            <a:off x="685800" y="102412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⚙️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66" name="CardBadgeBg_0"/>
          <p:cNvSpPr/>
          <p:nvPr/>
        </p:nvSpPr>
        <p:spPr>
          <a:xfrm>
            <a:off x="5632704" y="105156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CardBadgeText_0"/>
          <p:cNvSpPr txBox="1"/>
          <p:nvPr/>
        </p:nvSpPr>
        <p:spPr>
          <a:xfrm>
            <a:off x="5632704" y="1051560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rial"/>
              </a:rPr>
              <a:t>01</a:t>
            </a:r>
          </a:p>
        </p:txBody>
      </p:sp>
      <p:sp>
        <p:nvSpPr>
          <p:cNvPr id="68" name="CardBullet_0_0"/>
          <p:cNvSpPr txBox="1"/>
          <p:nvPr/>
        </p:nvSpPr>
        <p:spPr>
          <a:xfrm>
            <a:off x="347472" y="1389888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563EB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Technical: </a:t>
            </a:r>
            <a:r>
              <a:rPr sz="950" b="0">
                <a:solidFill>
                  <a:srgbClr val="0F172A"/>
                </a:solidFill>
                <a:latin typeface="Arial"/>
              </a:rPr>
              <a:t>FastAPI 0.141.1 + Next.js 16 + Neo4j 5.26 + PyTorch — fully open-source, no proprietary hardware.</a:t>
            </a:r>
          </a:p>
        </p:txBody>
      </p:sp>
      <p:sp>
        <p:nvSpPr>
          <p:cNvPr id="69" name="CardBullet_0_1"/>
          <p:cNvSpPr txBox="1"/>
          <p:nvPr/>
        </p:nvSpPr>
        <p:spPr>
          <a:xfrm>
            <a:off x="347472" y="1707642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563EB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Modular: </a:t>
            </a:r>
            <a:r>
              <a:rPr sz="950" b="0">
                <a:solidFill>
                  <a:srgbClr val="0F172A"/>
                </a:solidFill>
                <a:latin typeface="Arial"/>
              </a:rPr>
              <a:t>backend (FastAPI/Celery), graph DB (Neo4j + GDS 2.13), frontend (Next.js) deploy independently.</a:t>
            </a:r>
          </a:p>
        </p:txBody>
      </p:sp>
      <p:sp>
        <p:nvSpPr>
          <p:cNvPr id="70" name="CardBullet_0_2"/>
          <p:cNvSpPr txBox="1"/>
          <p:nvPr/>
        </p:nvSpPr>
        <p:spPr>
          <a:xfrm>
            <a:off x="347472" y="2025395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563EB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Market: </a:t>
            </a:r>
            <a:r>
              <a:rPr sz="950" b="0">
                <a:solidFill>
                  <a:srgbClr val="0F172A"/>
                </a:solidFill>
                <a:latin typeface="Arial"/>
              </a:rPr>
              <a:t>NTRO cyber-surveillance mandate + Interpol + FATF travel-rule; growing demand for BTC AML analytics.</a:t>
            </a:r>
          </a:p>
        </p:txBody>
      </p:sp>
      <p:sp>
        <p:nvSpPr>
          <p:cNvPr id="71" name="CardBullet_0_3"/>
          <p:cNvSpPr txBox="1"/>
          <p:nvPr/>
        </p:nvSpPr>
        <p:spPr>
          <a:xfrm>
            <a:off x="347472" y="2343150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563EB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Economic: </a:t>
            </a:r>
            <a:r>
              <a:rPr sz="950" b="0">
                <a:solidFill>
                  <a:srgbClr val="0F172A"/>
                </a:solidFill>
                <a:latin typeface="Arial"/>
              </a:rPr>
              <a:t>commodity-CPU node vs $250K–$500K commercial suites — orders-of-magnitude cheaper.</a:t>
            </a:r>
          </a:p>
        </p:txBody>
      </p:sp>
      <p:sp>
        <p:nvSpPr>
          <p:cNvPr id="72" name="CardBody_1"/>
          <p:cNvSpPr/>
          <p:nvPr/>
        </p:nvSpPr>
        <p:spPr>
          <a:xfrm>
            <a:off x="6153912" y="1005840"/>
            <a:ext cx="5852160" cy="169164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EA580C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CardTitleBar_1"/>
          <p:cNvSpPr/>
          <p:nvPr/>
        </p:nvSpPr>
        <p:spPr>
          <a:xfrm>
            <a:off x="6153912" y="1005840"/>
            <a:ext cx="585216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CardTitleText_1"/>
          <p:cNvSpPr txBox="1"/>
          <p:nvPr/>
        </p:nvSpPr>
        <p:spPr>
          <a:xfrm>
            <a:off x="6656832" y="102412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🛡️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Solutions</a:t>
            </a:r>
          </a:p>
        </p:txBody>
      </p:sp>
      <p:sp>
        <p:nvSpPr>
          <p:cNvPr id="75" name="CardBadgeBg_1"/>
          <p:cNvSpPr/>
          <p:nvPr/>
        </p:nvSpPr>
        <p:spPr>
          <a:xfrm>
            <a:off x="11603736" y="105156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CardBadgeText_1"/>
          <p:cNvSpPr txBox="1"/>
          <p:nvPr/>
        </p:nvSpPr>
        <p:spPr>
          <a:xfrm>
            <a:off x="11603736" y="1051560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A580C"/>
                </a:solidFill>
                <a:latin typeface="Arial"/>
              </a:rPr>
              <a:t>02</a:t>
            </a:r>
          </a:p>
        </p:txBody>
      </p:sp>
      <p:sp>
        <p:nvSpPr>
          <p:cNvPr id="77" name="CardBullet_1_0"/>
          <p:cNvSpPr txBox="1"/>
          <p:nvPr/>
        </p:nvSpPr>
        <p:spPr>
          <a:xfrm>
            <a:off x="6318504" y="1496434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>
                <a:solidFill>
                  <a:srgbClr val="EA580C"/>
                </a:solidFill>
                <a:latin typeface="Arial"/>
              </a:rPr>
              <a:t>● </a:t>
            </a:r>
            <a:r>
              <a:rPr sz="1000" b="1" dirty="0">
                <a:solidFill>
                  <a:srgbClr val="0F172A"/>
                </a:solidFill>
                <a:latin typeface="Arial"/>
              </a:rPr>
              <a:t>Air-Gap: </a:t>
            </a:r>
            <a:r>
              <a:rPr sz="1000" b="0" dirty="0">
                <a:solidFill>
                  <a:srgbClr val="0F172A"/>
                </a:solidFill>
                <a:latin typeface="Arial"/>
              </a:rPr>
              <a:t>CPU-only ONNX-exportable models — no GPU, no internet, no cloud dependency.</a:t>
            </a:r>
          </a:p>
        </p:txBody>
      </p:sp>
      <p:sp>
        <p:nvSpPr>
          <p:cNvPr id="78" name="CardBullet_1_1"/>
          <p:cNvSpPr txBox="1"/>
          <p:nvPr/>
        </p:nvSpPr>
        <p:spPr>
          <a:xfrm>
            <a:off x="6318504" y="1813560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A580C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Algorithm: </a:t>
            </a:r>
            <a:r>
              <a:rPr sz="1000" b="0">
                <a:solidFill>
                  <a:srgbClr val="0F172A"/>
                </a:solidFill>
                <a:latin typeface="Arial"/>
              </a:rPr>
              <a:t>Louvain community detection + CIOH heuristics + FT-Transformer — peer-reviewed graph analytics.</a:t>
            </a:r>
          </a:p>
        </p:txBody>
      </p:sp>
      <p:sp>
        <p:nvSpPr>
          <p:cNvPr id="79" name="CardBullet_1_2"/>
          <p:cNvSpPr txBox="1"/>
          <p:nvPr/>
        </p:nvSpPr>
        <p:spPr>
          <a:xfrm>
            <a:off x="6318504" y="2237232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A580C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Training: </a:t>
            </a:r>
            <a:r>
              <a:rPr sz="1000" b="0">
                <a:solidFill>
                  <a:srgbClr val="0F172A"/>
                </a:solidFill>
                <a:latin typeface="Arial"/>
              </a:rPr>
              <a:t>class-weighted loss + SMOTE on 18 hand-crafted features — F1 0.6972 anomaly, F1 0.9209 risk.</a:t>
            </a:r>
          </a:p>
        </p:txBody>
      </p:sp>
      <p:sp>
        <p:nvSpPr>
          <p:cNvPr id="80" name="CardBody_2"/>
          <p:cNvSpPr/>
          <p:nvPr/>
        </p:nvSpPr>
        <p:spPr>
          <a:xfrm>
            <a:off x="182880" y="2788920"/>
            <a:ext cx="5852160" cy="169164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CardTitleBar_2"/>
          <p:cNvSpPr/>
          <p:nvPr/>
        </p:nvSpPr>
        <p:spPr>
          <a:xfrm>
            <a:off x="182880" y="2788920"/>
            <a:ext cx="585216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CardTitleText_2"/>
          <p:cNvSpPr txBox="1"/>
          <p:nvPr/>
        </p:nvSpPr>
        <p:spPr>
          <a:xfrm>
            <a:off x="685800" y="280720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💰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Viability &amp; Business Potential</a:t>
            </a:r>
          </a:p>
        </p:txBody>
      </p:sp>
      <p:sp>
        <p:nvSpPr>
          <p:cNvPr id="83" name="CardBadgeBg_2"/>
          <p:cNvSpPr/>
          <p:nvPr/>
        </p:nvSpPr>
        <p:spPr>
          <a:xfrm>
            <a:off x="5632704" y="2834639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CardBadgeText_2"/>
          <p:cNvSpPr txBox="1"/>
          <p:nvPr/>
        </p:nvSpPr>
        <p:spPr>
          <a:xfrm>
            <a:off x="5632704" y="2834639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Arial"/>
              </a:rPr>
              <a:t>03</a:t>
            </a:r>
          </a:p>
        </p:txBody>
      </p:sp>
      <p:sp>
        <p:nvSpPr>
          <p:cNvPr id="85" name="CardBullet_2_0"/>
          <p:cNvSpPr txBox="1"/>
          <p:nvPr/>
        </p:nvSpPr>
        <p:spPr>
          <a:xfrm>
            <a:off x="347472" y="3228973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dirty="0">
                <a:solidFill>
                  <a:srgbClr val="DC2626"/>
                </a:solidFill>
                <a:latin typeface="Arial"/>
              </a:rPr>
              <a:t>● </a:t>
            </a:r>
            <a:r>
              <a:rPr sz="950" b="1" dirty="0">
                <a:solidFill>
                  <a:srgbClr val="0F172A"/>
                </a:solidFill>
                <a:latin typeface="Arial"/>
              </a:rPr>
              <a:t>Production Champion: </a:t>
            </a:r>
            <a:r>
              <a:rPr sz="950" b="0" dirty="0">
                <a:solidFill>
                  <a:srgbClr val="0F172A"/>
                </a:solidFill>
                <a:latin typeface="Arial"/>
              </a:rPr>
              <a:t>FT-Transformer F1 0.6972, AUC 0.9956, 0.0222 </a:t>
            </a:r>
            <a:r>
              <a:rPr sz="950" b="0" dirty="0" err="1">
                <a:solidFill>
                  <a:srgbClr val="0F172A"/>
                </a:solidFill>
                <a:latin typeface="Arial"/>
              </a:rPr>
              <a:t>ms</a:t>
            </a:r>
            <a:r>
              <a:rPr sz="950" b="0" dirty="0">
                <a:solidFill>
                  <a:srgbClr val="0F172A"/>
                </a:solidFill>
                <a:latin typeface="Arial"/>
              </a:rPr>
              <a:t> / inference.</a:t>
            </a:r>
          </a:p>
        </p:txBody>
      </p:sp>
      <p:sp>
        <p:nvSpPr>
          <p:cNvPr id="86" name="CardBullet_2_1"/>
          <p:cNvSpPr txBox="1"/>
          <p:nvPr/>
        </p:nvSpPr>
        <p:spPr>
          <a:xfrm>
            <a:off x="347472" y="3490722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DC2626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Cost Efficiency: </a:t>
            </a:r>
            <a:r>
              <a:rPr sz="950" b="0">
                <a:solidFill>
                  <a:srgbClr val="0F172A"/>
                </a:solidFill>
                <a:latin typeface="Arial"/>
              </a:rPr>
              <a:t>sub-$1K commodity CPU vs $250K–$500K commercial — extends budget 250×.</a:t>
            </a:r>
          </a:p>
        </p:txBody>
      </p:sp>
      <p:sp>
        <p:nvSpPr>
          <p:cNvPr id="87" name="CardBullet_2_2"/>
          <p:cNvSpPr txBox="1"/>
          <p:nvPr/>
        </p:nvSpPr>
        <p:spPr>
          <a:xfrm>
            <a:off x="347472" y="3808476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DC2626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Compliance: </a:t>
            </a:r>
            <a:r>
              <a:rPr sz="950" b="0">
                <a:solidFill>
                  <a:srgbClr val="0F172A"/>
                </a:solidFill>
                <a:latin typeface="Arial"/>
              </a:rPr>
              <a:t>court-admissible JSON + PDF dossiers with tamper-evident SHA-256 chain.</a:t>
            </a:r>
          </a:p>
        </p:txBody>
      </p:sp>
      <p:sp>
        <p:nvSpPr>
          <p:cNvPr id="88" name="CardBullet_2_3"/>
          <p:cNvSpPr txBox="1"/>
          <p:nvPr/>
        </p:nvSpPr>
        <p:spPr>
          <a:xfrm>
            <a:off x="347472" y="4126230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DC2626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Resilience: </a:t>
            </a:r>
            <a:r>
              <a:rPr sz="950" b="0">
                <a:solidFill>
                  <a:srgbClr val="0F172A"/>
                </a:solidFill>
                <a:latin typeface="Arial"/>
              </a:rPr>
              <a:t>100% air-gapped — immune to network outages, DDoS, sovereign-cloud risk.</a:t>
            </a:r>
          </a:p>
        </p:txBody>
      </p:sp>
      <p:sp>
        <p:nvSpPr>
          <p:cNvPr id="89" name="CardBody_3"/>
          <p:cNvSpPr/>
          <p:nvPr/>
        </p:nvSpPr>
        <p:spPr>
          <a:xfrm>
            <a:off x="6153912" y="2788920"/>
            <a:ext cx="5852160" cy="169164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CardTitleBar_3"/>
          <p:cNvSpPr/>
          <p:nvPr/>
        </p:nvSpPr>
        <p:spPr>
          <a:xfrm>
            <a:off x="6153912" y="2788920"/>
            <a:ext cx="585216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CardTitleText_3"/>
          <p:cNvSpPr txBox="1"/>
          <p:nvPr/>
        </p:nvSpPr>
        <p:spPr>
          <a:xfrm>
            <a:off x="6656832" y="280720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👥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Use Cases</a:t>
            </a:r>
          </a:p>
        </p:txBody>
      </p:sp>
      <p:sp>
        <p:nvSpPr>
          <p:cNvPr id="92" name="CardBadgeBg_3"/>
          <p:cNvSpPr/>
          <p:nvPr/>
        </p:nvSpPr>
        <p:spPr>
          <a:xfrm>
            <a:off x="11603736" y="2834639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CardBadgeText_3"/>
          <p:cNvSpPr txBox="1"/>
          <p:nvPr/>
        </p:nvSpPr>
        <p:spPr>
          <a:xfrm>
            <a:off x="11603736" y="2834639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Arial"/>
              </a:rPr>
              <a:t>04</a:t>
            </a:r>
          </a:p>
        </p:txBody>
      </p:sp>
      <p:sp>
        <p:nvSpPr>
          <p:cNvPr id="94" name="CardBullet_3_0"/>
          <p:cNvSpPr txBox="1"/>
          <p:nvPr/>
        </p:nvSpPr>
        <p:spPr>
          <a:xfrm>
            <a:off x="6318504" y="3172968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NTRO Cyber Analysts: </a:t>
            </a:r>
            <a:r>
              <a:rPr sz="1000" b="0">
                <a:solidFill>
                  <a:srgbClr val="0F172A"/>
                </a:solidFill>
                <a:latin typeface="Arial"/>
              </a:rPr>
              <a:t>4-tier severity master alert grid + D3 force-graph drilling on suspect wallets.</a:t>
            </a:r>
          </a:p>
        </p:txBody>
      </p:sp>
      <p:sp>
        <p:nvSpPr>
          <p:cNvPr id="95" name="CardBullet_3_1"/>
          <p:cNvSpPr txBox="1"/>
          <p:nvPr/>
        </p:nvSpPr>
        <p:spPr>
          <a:xfrm>
            <a:off x="6318504" y="3596640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Forensic Investigators: </a:t>
            </a:r>
            <a:r>
              <a:rPr sz="1000" b="0">
                <a:solidFill>
                  <a:srgbClr val="0F172A"/>
                </a:solidFill>
                <a:latin typeface="Arial"/>
              </a:rPr>
              <a:t>SHAP waterfall + GNNExplainer subgraphs for traceable, defensible case files.</a:t>
            </a:r>
          </a:p>
        </p:txBody>
      </p:sp>
      <p:sp>
        <p:nvSpPr>
          <p:cNvPr id="96" name="CardBullet_3_2"/>
          <p:cNvSpPr txBox="1"/>
          <p:nvPr/>
        </p:nvSpPr>
        <p:spPr>
          <a:xfrm>
            <a:off x="6318504" y="4020312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Field Officers / Liaison: </a:t>
            </a:r>
            <a:r>
              <a:rPr sz="1000" b="0">
                <a:solidFill>
                  <a:srgbClr val="0F172A"/>
                </a:solidFill>
                <a:latin typeface="Arial"/>
              </a:rPr>
              <a:t>1-click JSON / PDF dossier export for courtroom delivery and chain-of-custody.</a:t>
            </a:r>
          </a:p>
        </p:txBody>
      </p:sp>
      <p:sp>
        <p:nvSpPr>
          <p:cNvPr id="97" name="CardBody_4"/>
          <p:cNvSpPr/>
          <p:nvPr/>
        </p:nvSpPr>
        <p:spPr>
          <a:xfrm>
            <a:off x="182880" y="4572000"/>
            <a:ext cx="5852160" cy="16916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CardTitleBar_4"/>
          <p:cNvSpPr/>
          <p:nvPr/>
        </p:nvSpPr>
        <p:spPr>
          <a:xfrm>
            <a:off x="182880" y="4572000"/>
            <a:ext cx="585216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CardTitleText_4"/>
          <p:cNvSpPr txBox="1"/>
          <p:nvPr/>
        </p:nvSpPr>
        <p:spPr>
          <a:xfrm>
            <a:off x="685800" y="459028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🚧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Challenges</a:t>
            </a:r>
          </a:p>
        </p:txBody>
      </p:sp>
      <p:sp>
        <p:nvSpPr>
          <p:cNvPr id="100" name="CardBadgeBg_4"/>
          <p:cNvSpPr/>
          <p:nvPr/>
        </p:nvSpPr>
        <p:spPr>
          <a:xfrm>
            <a:off x="5632704" y="461772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CardBadgeText_4"/>
          <p:cNvSpPr txBox="1"/>
          <p:nvPr/>
        </p:nvSpPr>
        <p:spPr>
          <a:xfrm>
            <a:off x="5632704" y="4617720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Arial"/>
              </a:rPr>
              <a:t>05</a:t>
            </a:r>
          </a:p>
        </p:txBody>
      </p:sp>
      <p:sp>
        <p:nvSpPr>
          <p:cNvPr id="102" name="CardBullet_4_0"/>
          <p:cNvSpPr txBox="1"/>
          <p:nvPr/>
        </p:nvSpPr>
        <p:spPr>
          <a:xfrm>
            <a:off x="347472" y="4956048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6A34A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Synthetic Stream Today: </a:t>
            </a:r>
            <a:r>
              <a:rPr sz="1000" b="0">
                <a:solidFill>
                  <a:srgbClr val="0F172A"/>
                </a:solidFill>
                <a:latin typeface="Arial"/>
              </a:rPr>
              <a:t>demo runs on anonymized ledger traces; live NTRO transaction feed pilot pending.</a:t>
            </a:r>
          </a:p>
        </p:txBody>
      </p:sp>
      <p:sp>
        <p:nvSpPr>
          <p:cNvPr id="103" name="CardBullet_4_1"/>
          <p:cNvSpPr txBox="1"/>
          <p:nvPr/>
        </p:nvSpPr>
        <p:spPr>
          <a:xfrm>
            <a:off x="347472" y="5379720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6A34A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Edge Hardware: </a:t>
            </a:r>
            <a:r>
              <a:rPr sz="1000" b="0">
                <a:solidFill>
                  <a:srgbClr val="0F172A"/>
                </a:solidFill>
                <a:latin typeface="Arial"/>
              </a:rPr>
              <a:t>ONNX scripts ready; ruggedised Pi-class node procurement + field hardening in progress.</a:t>
            </a:r>
          </a:p>
        </p:txBody>
      </p:sp>
      <p:sp>
        <p:nvSpPr>
          <p:cNvPr id="104" name="CardBullet_4_2"/>
          <p:cNvSpPr txBox="1"/>
          <p:nvPr/>
        </p:nvSpPr>
        <p:spPr>
          <a:xfrm>
            <a:off x="347472" y="5803392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6A34A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Multi-Tenant Scale: </a:t>
            </a:r>
            <a:r>
              <a:rPr sz="1000" b="0">
                <a:solidFill>
                  <a:srgbClr val="0F172A"/>
                </a:solidFill>
                <a:latin typeface="Arial"/>
              </a:rPr>
              <a:t>multi-NTRO-unit isolation + Celery pool tuning at &gt;100k tx/sec not yet benchmarked.</a:t>
            </a:r>
          </a:p>
        </p:txBody>
      </p:sp>
      <p:sp>
        <p:nvSpPr>
          <p:cNvPr id="105" name="CardBody_5"/>
          <p:cNvSpPr/>
          <p:nvPr/>
        </p:nvSpPr>
        <p:spPr>
          <a:xfrm>
            <a:off x="6153912" y="4572000"/>
            <a:ext cx="5852160" cy="16916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475569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CardTitleBar_5"/>
          <p:cNvSpPr/>
          <p:nvPr/>
        </p:nvSpPr>
        <p:spPr>
          <a:xfrm>
            <a:off x="6153912" y="4572000"/>
            <a:ext cx="5852160" cy="3840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CardTitleText_5"/>
          <p:cNvSpPr txBox="1"/>
          <p:nvPr/>
        </p:nvSpPr>
        <p:spPr>
          <a:xfrm>
            <a:off x="6656832" y="459028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⭐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Supporting Facts</a:t>
            </a:r>
          </a:p>
        </p:txBody>
      </p:sp>
      <p:sp>
        <p:nvSpPr>
          <p:cNvPr id="108" name="CardBadgeBg_5"/>
          <p:cNvSpPr/>
          <p:nvPr/>
        </p:nvSpPr>
        <p:spPr>
          <a:xfrm>
            <a:off x="11603736" y="461772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CardBadgeText_5"/>
          <p:cNvSpPr txBox="1"/>
          <p:nvPr/>
        </p:nvSpPr>
        <p:spPr>
          <a:xfrm>
            <a:off x="11603736" y="4617720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06</a:t>
            </a:r>
          </a:p>
        </p:txBody>
      </p:sp>
      <p:sp>
        <p:nvSpPr>
          <p:cNvPr id="110" name="CardBullet_5_0"/>
          <p:cNvSpPr txBox="1"/>
          <p:nvPr/>
        </p:nvSpPr>
        <p:spPr>
          <a:xfrm>
            <a:off x="6318504" y="5039624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Arial"/>
              </a:rPr>
              <a:t>➤ </a:t>
            </a:r>
            <a:r>
              <a:rPr sz="1000" b="0">
                <a:solidFill>
                  <a:srgbClr val="0F172A"/>
                </a:solidFill>
                <a:latin typeface="Arial"/>
              </a:rPr>
              <a:t>11,938 tx/sec sustained PostgreSQL binary-COPY ingest.</a:t>
            </a:r>
          </a:p>
        </p:txBody>
      </p:sp>
      <p:sp>
        <p:nvSpPr>
          <p:cNvPr id="111" name="CardBullet_5_1"/>
          <p:cNvSpPr txBox="1"/>
          <p:nvPr/>
        </p:nvSpPr>
        <p:spPr>
          <a:xfrm>
            <a:off x="6318504" y="5379720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Arial"/>
              </a:rPr>
              <a:t>➤ </a:t>
            </a:r>
            <a:r>
              <a:rPr sz="1000" b="0">
                <a:solidFill>
                  <a:srgbClr val="0F172A"/>
                </a:solidFill>
                <a:latin typeface="Arial"/>
              </a:rPr>
              <a:t>24,673 wallets / 9,794 Louvain clusters / 45,516 edges scored.</a:t>
            </a:r>
          </a:p>
        </p:txBody>
      </p:sp>
      <p:sp>
        <p:nvSpPr>
          <p:cNvPr id="112" name="CardBullet_5_2"/>
          <p:cNvSpPr txBox="1"/>
          <p:nvPr/>
        </p:nvSpPr>
        <p:spPr>
          <a:xfrm>
            <a:off x="6318504" y="5803392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Arial"/>
              </a:rPr>
              <a:t>➤ </a:t>
            </a:r>
            <a:r>
              <a:rPr sz="1000" b="0">
                <a:solidFill>
                  <a:srgbClr val="0F172A"/>
                </a:solidFill>
                <a:latin typeface="Arial"/>
              </a:rPr>
              <a:t>Graph Transformer AUC 0.9956; 0 / 197 missed high-risk wallets on Ransomwhere seed set.</a:t>
            </a:r>
          </a:p>
        </p:txBody>
      </p:sp>
      <p:sp>
        <p:nvSpPr>
          <p:cNvPr id="114" name="CardBgDot_1"/>
          <p:cNvSpPr/>
          <p:nvPr/>
        </p:nvSpPr>
        <p:spPr>
          <a:xfrm>
            <a:off x="91440" y="100584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CardBgDot_2"/>
          <p:cNvSpPr/>
          <p:nvPr/>
        </p:nvSpPr>
        <p:spPr>
          <a:xfrm>
            <a:off x="12051792" y="100584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CardBgDot_3"/>
          <p:cNvSpPr/>
          <p:nvPr/>
        </p:nvSpPr>
        <p:spPr>
          <a:xfrm>
            <a:off x="91440" y="17830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CardBgDot_4"/>
          <p:cNvSpPr/>
          <p:nvPr/>
        </p:nvSpPr>
        <p:spPr>
          <a:xfrm>
            <a:off x="12051792" y="17830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CardBgDot_5"/>
          <p:cNvSpPr/>
          <p:nvPr/>
        </p:nvSpPr>
        <p:spPr>
          <a:xfrm>
            <a:off x="91440" y="26517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CardBgDot_6"/>
          <p:cNvSpPr/>
          <p:nvPr/>
        </p:nvSpPr>
        <p:spPr>
          <a:xfrm>
            <a:off x="12051792" y="26517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CardBgDot_7"/>
          <p:cNvSpPr/>
          <p:nvPr/>
        </p:nvSpPr>
        <p:spPr>
          <a:xfrm>
            <a:off x="91440" y="36118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CardBgDot_8"/>
          <p:cNvSpPr/>
          <p:nvPr/>
        </p:nvSpPr>
        <p:spPr>
          <a:xfrm>
            <a:off x="12051792" y="36118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CardBgDot_9"/>
          <p:cNvSpPr/>
          <p:nvPr/>
        </p:nvSpPr>
        <p:spPr>
          <a:xfrm>
            <a:off x="91440" y="44805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CardBgDot_10"/>
          <p:cNvSpPr/>
          <p:nvPr/>
        </p:nvSpPr>
        <p:spPr>
          <a:xfrm>
            <a:off x="12051792" y="44805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CardBgDot_11"/>
          <p:cNvSpPr/>
          <p:nvPr/>
        </p:nvSpPr>
        <p:spPr>
          <a:xfrm>
            <a:off x="91440" y="55778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CardBgDot_12"/>
          <p:cNvSpPr/>
          <p:nvPr/>
        </p:nvSpPr>
        <p:spPr>
          <a:xfrm>
            <a:off x="12051792" y="55778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CardLeftEdgeStripe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CardRightEdgeStripe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2563E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2" name="CardTitleAccentRule"/>
          <p:cNvSpPr/>
          <p:nvPr/>
        </p:nvSpPr>
        <p:spPr>
          <a:xfrm>
            <a:off x="3108685" y="828675"/>
            <a:ext cx="228600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CardTitleAccentRule"/>
          <p:cNvSpPr/>
          <p:nvPr/>
        </p:nvSpPr>
        <p:spPr>
          <a:xfrm>
            <a:off x="3771900" y="828675"/>
            <a:ext cx="228600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CardFooterDiamond"/>
          <p:cNvSpPr/>
          <p:nvPr/>
        </p:nvSpPr>
        <p:spPr>
          <a:xfrm>
            <a:off x="274320" y="6516014"/>
            <a:ext cx="182880" cy="1828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CardFooterLabel"/>
          <p:cNvSpPr txBox="1"/>
          <p:nvPr/>
        </p:nvSpPr>
        <p:spPr>
          <a:xfrm>
            <a:off x="548640" y="6355994"/>
            <a:ext cx="384048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spc="100">
                <a:solidFill>
                  <a:srgbClr val="2563EB"/>
                </a:solidFill>
                <a:latin typeface="Arial"/>
              </a:rPr>
              <a:t>Feasibility &amp; Viability   SIH26146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1004" name="Shape 3"/>
          <p:cNvSpPr/>
          <p:nvPr/>
        </p:nvSpPr>
        <p:spPr>
          <a:xfrm>
            <a:off x="2769994" y="630387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0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066" name="Enhance_S5_BgDot_1"/>
          <p:cNvSpPr/>
          <p:nvPr/>
        </p:nvSpPr>
        <p:spPr>
          <a:xfrm>
            <a:off x="91440" y="1143000"/>
            <a:ext cx="64008" cy="64008"/>
          </a:xfrm>
          <a:prstGeom prst="ellipse">
            <a:avLst/>
          </a:prstGeom>
          <a:solidFill>
            <a:srgbClr val="2563E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7" name="Enhance_S5_BgDot_2"/>
          <p:cNvSpPr/>
          <p:nvPr/>
        </p:nvSpPr>
        <p:spPr>
          <a:xfrm>
            <a:off x="12033504" y="1143000"/>
            <a:ext cx="64008" cy="64008"/>
          </a:xfrm>
          <a:prstGeom prst="ellipse">
            <a:avLst/>
          </a:prstGeom>
          <a:solidFill>
            <a:srgbClr val="2563E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8" name="Enhance_S5_BgDot_3"/>
          <p:cNvSpPr/>
          <p:nvPr/>
        </p:nvSpPr>
        <p:spPr>
          <a:xfrm>
            <a:off x="91440" y="201168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9" name="Enhance_S5_BgDot_4"/>
          <p:cNvSpPr/>
          <p:nvPr/>
        </p:nvSpPr>
        <p:spPr>
          <a:xfrm>
            <a:off x="12033504" y="201168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Enhance_S5_BgDot_5"/>
          <p:cNvSpPr/>
          <p:nvPr/>
        </p:nvSpPr>
        <p:spPr>
          <a:xfrm>
            <a:off x="91440" y="2926080"/>
            <a:ext cx="64008" cy="64008"/>
          </a:xfrm>
          <a:prstGeom prst="ellipse">
            <a:avLst/>
          </a:prstGeom>
          <a:solidFill>
            <a:srgbClr val="2563E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Enhance_S5_BgDot_6"/>
          <p:cNvSpPr/>
          <p:nvPr/>
        </p:nvSpPr>
        <p:spPr>
          <a:xfrm>
            <a:off x="12033504" y="2926080"/>
            <a:ext cx="64008" cy="64008"/>
          </a:xfrm>
          <a:prstGeom prst="ellipse">
            <a:avLst/>
          </a:prstGeom>
          <a:solidFill>
            <a:srgbClr val="2563E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2" name="Enhance_S5_BgDot_7"/>
          <p:cNvSpPr/>
          <p:nvPr/>
        </p:nvSpPr>
        <p:spPr>
          <a:xfrm>
            <a:off x="91440" y="384048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3" name="Enhance_S5_BgDot_8"/>
          <p:cNvSpPr/>
          <p:nvPr/>
        </p:nvSpPr>
        <p:spPr>
          <a:xfrm>
            <a:off x="12033504" y="384048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4" name="Enhance_S5_BgDot_9"/>
          <p:cNvSpPr/>
          <p:nvPr/>
        </p:nvSpPr>
        <p:spPr>
          <a:xfrm>
            <a:off x="91440" y="4754880"/>
            <a:ext cx="64008" cy="64008"/>
          </a:xfrm>
          <a:prstGeom prst="ellipse">
            <a:avLst/>
          </a:prstGeom>
          <a:solidFill>
            <a:srgbClr val="2563E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5" name="Enhance_S5_BgDot_10"/>
          <p:cNvSpPr/>
          <p:nvPr/>
        </p:nvSpPr>
        <p:spPr>
          <a:xfrm>
            <a:off x="12033504" y="4754880"/>
            <a:ext cx="64008" cy="64008"/>
          </a:xfrm>
          <a:prstGeom prst="ellipse">
            <a:avLst/>
          </a:prstGeom>
          <a:solidFill>
            <a:srgbClr val="2563E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6" name="Enhance_S5_BgDot_11"/>
          <p:cNvSpPr/>
          <p:nvPr/>
        </p:nvSpPr>
        <p:spPr>
          <a:xfrm>
            <a:off x="91440" y="571500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7" name="Enhance_S5_BgDot_12"/>
          <p:cNvSpPr/>
          <p:nvPr/>
        </p:nvSpPr>
        <p:spPr>
          <a:xfrm>
            <a:off x="12033504" y="571500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8" name="Enhance_S5_BgDot_13"/>
          <p:cNvSpPr/>
          <p:nvPr/>
        </p:nvSpPr>
        <p:spPr>
          <a:xfrm>
            <a:off x="6080760" y="96012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9" name="Enhance_S5_BgDot_14"/>
          <p:cNvSpPr/>
          <p:nvPr/>
        </p:nvSpPr>
        <p:spPr>
          <a:xfrm>
            <a:off x="6080760" y="649224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0" name="Enhance_S5_BgDot_15"/>
          <p:cNvSpPr/>
          <p:nvPr/>
        </p:nvSpPr>
        <p:spPr>
          <a:xfrm>
            <a:off x="6080760" y="361188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1" name="Enhance_S5_LeftEdgeStripe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2" name="Enhance_S5_RightEdgeStripe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2563E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7" name="Shape 5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8" name="Text 6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1009" name="Text 7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1010" name="Text 8"/>
          <p:cNvSpPr/>
          <p:nvPr/>
        </p:nvSpPr>
        <p:spPr>
          <a:xfrm>
            <a:off x="2011680" y="13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sp>
        <p:nvSpPr>
          <p:cNvPr id="1038" name="Enhance_S5_PillBg_ip"/>
          <p:cNvSpPr/>
          <p:nvPr/>
        </p:nvSpPr>
        <p:spPr>
          <a:xfrm>
            <a:off x="365760" y="1115568"/>
            <a:ext cx="5943600" cy="310896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0" name="Enhance_S5_PillText_ip"/>
          <p:cNvSpPr txBox="1"/>
          <p:nvPr/>
        </p:nvSpPr>
        <p:spPr>
          <a:xfrm>
            <a:off x="502920" y="1115568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00" b="1" spc="150">
                <a:solidFill>
                  <a:srgbClr val="FFFFFF"/>
                </a:solidFill>
                <a:latin typeface="Arial"/>
              </a:rPr>
              <a:t>Industry Platforms</a:t>
            </a:r>
          </a:p>
        </p:txBody>
      </p:sp>
      <p:sp>
        <p:nvSpPr>
          <p:cNvPr id="1039" name="Enhance_S5_PillShine_ip"/>
          <p:cNvSpPr/>
          <p:nvPr/>
        </p:nvSpPr>
        <p:spPr>
          <a:xfrm>
            <a:off x="374904" y="1124712"/>
            <a:ext cx="5925312" cy="146304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7" name="Enhance_S5_Card_ip"/>
          <p:cNvSpPr/>
          <p:nvPr/>
        </p:nvSpPr>
        <p:spPr>
          <a:xfrm>
            <a:off x="292608" y="1481328"/>
            <a:ext cx="6089904" cy="12070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25400" dir="5400000" algn="ctr" rotWithShape="0">
              <a:srgbClr val="0F172A">
                <a:alpha val="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" name="Enhance_S5_CardAccent_ip"/>
          <p:cNvSpPr/>
          <p:nvPr/>
        </p:nvSpPr>
        <p:spPr>
          <a:xfrm>
            <a:off x="292608" y="1481328"/>
            <a:ext cx="45720" cy="120700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Oval 1012"/>
          <p:cNvSpPr/>
          <p:nvPr/>
        </p:nvSpPr>
        <p:spPr>
          <a:xfrm>
            <a:off x="365760" y="160020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TextBox 1013"/>
          <p:cNvSpPr txBox="1"/>
          <p:nvPr/>
        </p:nvSpPr>
        <p:spPr>
          <a:xfrm>
            <a:off x="566928" y="1527048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Chainalysis - </a:t>
            </a:r>
            <a:r>
              <a:rPr sz="1200">
                <a:solidFill>
                  <a:srgbClr val="334155"/>
                </a:solidFill>
                <a:latin typeface="Arial"/>
              </a:rPr>
              <a:t>Blockchain analytics for crypto compliance - </a:t>
            </a:r>
            <a:r>
              <a:rPr sz="1200">
                <a:solidFill>
                  <a:srgbClr val="475569"/>
                </a:solidFill>
                <a:latin typeface="Arial"/>
              </a:rPr>
              <a:t>chainalysis.com</a:t>
            </a:r>
          </a:p>
        </p:txBody>
      </p:sp>
      <p:sp>
        <p:nvSpPr>
          <p:cNvPr id="1015" name="Oval 1014"/>
          <p:cNvSpPr/>
          <p:nvPr/>
        </p:nvSpPr>
        <p:spPr>
          <a:xfrm>
            <a:off x="365760" y="186537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TextBox 1015"/>
          <p:cNvSpPr txBox="1"/>
          <p:nvPr/>
        </p:nvSpPr>
        <p:spPr>
          <a:xfrm>
            <a:off x="566928" y="1792224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Elliptic - </a:t>
            </a:r>
            <a:r>
              <a:rPr sz="1200">
                <a:solidFill>
                  <a:srgbClr val="334155"/>
                </a:solidFill>
                <a:latin typeface="Arial"/>
              </a:rPr>
              <a:t>Blockchain analytics for AML compliance - </a:t>
            </a:r>
            <a:r>
              <a:rPr sz="1200">
                <a:solidFill>
                  <a:srgbClr val="475569"/>
                </a:solidFill>
                <a:latin typeface="Arial"/>
              </a:rPr>
              <a:t>elliptic.co</a:t>
            </a:r>
          </a:p>
        </p:txBody>
      </p:sp>
      <p:sp>
        <p:nvSpPr>
          <p:cNvPr id="1017" name="Oval 1016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TextBox 1017"/>
          <p:cNvSpPr txBox="1"/>
          <p:nvPr/>
        </p:nvSpPr>
        <p:spPr>
          <a:xfrm>
            <a:off x="566928" y="20574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TRM Labs - </a:t>
            </a:r>
            <a:r>
              <a:rPr sz="1200">
                <a:solidFill>
                  <a:srgbClr val="334155"/>
                </a:solidFill>
                <a:latin typeface="Arial"/>
              </a:rPr>
              <a:t>Blockchain intelligence for AML and fraud - </a:t>
            </a:r>
            <a:r>
              <a:rPr sz="1200">
                <a:solidFill>
                  <a:srgbClr val="475569"/>
                </a:solidFill>
                <a:latin typeface="Arial"/>
              </a:rPr>
              <a:t>trmlabs.com</a:t>
            </a:r>
          </a:p>
        </p:txBody>
      </p:sp>
      <p:sp>
        <p:nvSpPr>
          <p:cNvPr id="1019" name="Oval 1018"/>
          <p:cNvSpPr/>
          <p:nvPr/>
        </p:nvSpPr>
        <p:spPr>
          <a:xfrm>
            <a:off x="365760" y="239572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TextBox 1019"/>
          <p:cNvSpPr txBox="1"/>
          <p:nvPr/>
        </p:nvSpPr>
        <p:spPr>
          <a:xfrm>
            <a:off x="566928" y="2322576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Crystal Intelligence - </a:t>
            </a:r>
            <a:r>
              <a:rPr sz="1200">
                <a:solidFill>
                  <a:srgbClr val="334155"/>
                </a:solidFill>
                <a:latin typeface="Arial"/>
              </a:rPr>
              <a:t>Digital asset risk intelligence - </a:t>
            </a:r>
            <a:r>
              <a:rPr sz="1200">
                <a:solidFill>
                  <a:srgbClr val="475569"/>
                </a:solidFill>
                <a:latin typeface="Arial"/>
              </a:rPr>
              <a:t>crystalintelligence.com</a:t>
            </a:r>
          </a:p>
        </p:txBody>
      </p:sp>
      <p:sp>
        <p:nvSpPr>
          <p:cNvPr id="1041" name="Enhance_S5_PillBg_rb"/>
          <p:cNvSpPr/>
          <p:nvPr/>
        </p:nvSpPr>
        <p:spPr>
          <a:xfrm>
            <a:off x="365760" y="2670048"/>
            <a:ext cx="5943600" cy="310896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3" name="Enhance_S5_PillText_rb"/>
          <p:cNvSpPr txBox="1"/>
          <p:nvPr/>
        </p:nvSpPr>
        <p:spPr>
          <a:xfrm>
            <a:off x="502920" y="2670048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00" b="1" spc="150">
                <a:solidFill>
                  <a:srgbClr val="FFFFFF"/>
                </a:solidFill>
                <a:latin typeface="Arial"/>
              </a:rPr>
              <a:t>Research &amp; Best Practices</a:t>
            </a:r>
          </a:p>
        </p:txBody>
      </p:sp>
      <p:sp>
        <p:nvSpPr>
          <p:cNvPr id="1042" name="Enhance_S5_PillShine_rb"/>
          <p:cNvSpPr/>
          <p:nvPr/>
        </p:nvSpPr>
        <p:spPr>
          <a:xfrm>
            <a:off x="374904" y="2679191"/>
            <a:ext cx="5925312" cy="146304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" name="Enhance_S5_Card_rb"/>
          <p:cNvSpPr/>
          <p:nvPr/>
        </p:nvSpPr>
        <p:spPr>
          <a:xfrm>
            <a:off x="292608" y="3035808"/>
            <a:ext cx="608990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25400" dir="5400000" algn="ctr" rotWithShape="0">
              <a:srgbClr val="0F172A">
                <a:alpha val="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0" name="Enhance_S5_CardAccent_rb"/>
          <p:cNvSpPr/>
          <p:nvPr/>
        </p:nvSpPr>
        <p:spPr>
          <a:xfrm>
            <a:off x="292608" y="3035808"/>
            <a:ext cx="45720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Oval 1022"/>
          <p:cNvSpPr/>
          <p:nvPr/>
        </p:nvSpPr>
        <p:spPr>
          <a:xfrm>
            <a:off x="365760" y="31546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TextBox 1023"/>
          <p:cNvSpPr txBox="1"/>
          <p:nvPr/>
        </p:nvSpPr>
        <p:spPr>
          <a:xfrm>
            <a:off x="566928" y="3081528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Weber et al., KDD 2019 - </a:t>
            </a:r>
            <a:r>
              <a:rPr sz="1200">
                <a:solidFill>
                  <a:srgbClr val="334155"/>
                </a:solidFill>
                <a:latin typeface="Arial"/>
              </a:rPr>
              <a:t>Anti-Money Laundering in Bitcoin: Experimenting with Graph Convolutional Networks for Financial Forensics - </a:t>
            </a:r>
            <a:r>
              <a:rPr sz="1200">
                <a:solidFill>
                  <a:srgbClr val="475569"/>
                </a:solidFill>
                <a:latin typeface="Arial"/>
              </a:rPr>
              <a:t>arxiv.org/abs/1908.02591</a:t>
            </a:r>
          </a:p>
        </p:txBody>
      </p:sp>
      <p:sp>
        <p:nvSpPr>
          <p:cNvPr id="1025" name="Oval 1024"/>
          <p:cNvSpPr/>
          <p:nvPr/>
        </p:nvSpPr>
        <p:spPr>
          <a:xfrm>
            <a:off x="365760" y="360273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TextBox 1025"/>
          <p:cNvSpPr txBox="1"/>
          <p:nvPr/>
        </p:nvSpPr>
        <p:spPr>
          <a:xfrm>
            <a:off x="566928" y="3529584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Kappos et al., arXiv 2022 - </a:t>
            </a:r>
            <a:r>
              <a:rPr sz="1200">
                <a:solidFill>
                  <a:srgbClr val="334155"/>
                </a:solidFill>
                <a:latin typeface="Arial"/>
              </a:rPr>
              <a:t>How to Peel a Million: Validating and Expanding Bitcoin Clusters - </a:t>
            </a:r>
            <a:r>
              <a:rPr sz="1200">
                <a:solidFill>
                  <a:srgbClr val="475569"/>
                </a:solidFill>
                <a:latin typeface="Arial"/>
              </a:rPr>
              <a:t>arxiv.org/abs/2205.13882</a:t>
            </a:r>
          </a:p>
        </p:txBody>
      </p:sp>
      <p:sp>
        <p:nvSpPr>
          <p:cNvPr id="1027" name="Oval 1026"/>
          <p:cNvSpPr/>
          <p:nvPr/>
        </p:nvSpPr>
        <p:spPr>
          <a:xfrm>
            <a:off x="365760" y="405079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TextBox 1027"/>
          <p:cNvSpPr txBox="1"/>
          <p:nvPr/>
        </p:nvSpPr>
        <p:spPr>
          <a:xfrm>
            <a:off x="566928" y="3977640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Schnoering and Vazirgiannis, arXiv 2023 - </a:t>
            </a:r>
            <a:r>
              <a:rPr sz="1200">
                <a:solidFill>
                  <a:srgbClr val="334155"/>
                </a:solidFill>
                <a:latin typeface="Arial"/>
              </a:rPr>
              <a:t>Heuristics for Detecting CoinJoin Transactions on the Bitcoin Blockchain - </a:t>
            </a:r>
            <a:r>
              <a:rPr sz="1200">
                <a:solidFill>
                  <a:srgbClr val="475569"/>
                </a:solidFill>
                <a:latin typeface="Arial"/>
              </a:rPr>
              <a:t>arxiv.org/abs/2311.12491</a:t>
            </a:r>
          </a:p>
        </p:txBody>
      </p:sp>
      <p:sp>
        <p:nvSpPr>
          <p:cNvPr id="1029" name="Oval 1028"/>
          <p:cNvSpPr/>
          <p:nvPr/>
        </p:nvSpPr>
        <p:spPr>
          <a:xfrm>
            <a:off x="365760" y="449884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TextBox 1029"/>
          <p:cNvSpPr txBox="1"/>
          <p:nvPr/>
        </p:nvSpPr>
        <p:spPr>
          <a:xfrm>
            <a:off x="566928" y="4425696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FATF 2015/2018/2021 - </a:t>
            </a:r>
            <a:r>
              <a:rPr sz="1200">
                <a:solidFill>
                  <a:srgbClr val="334155"/>
                </a:solidFill>
                <a:latin typeface="Arial"/>
              </a:rPr>
              <a:t>Guidance for a Risk-Based Approach: Virtual Assets and VASPs - </a:t>
            </a:r>
            <a:r>
              <a:rPr sz="1200">
                <a:solidFill>
                  <a:srgbClr val="475569"/>
                </a:solidFill>
                <a:latin typeface="Arial"/>
              </a:rPr>
              <a:t>fatf-gafi.org/en/publications.html</a:t>
            </a:r>
          </a:p>
        </p:txBody>
      </p:sp>
      <p:sp>
        <p:nvSpPr>
          <p:cNvPr id="1044" name="Enhance_S5_PillBg_ff"/>
          <p:cNvSpPr/>
          <p:nvPr/>
        </p:nvSpPr>
        <p:spPr>
          <a:xfrm>
            <a:off x="365760" y="4956048"/>
            <a:ext cx="5943600" cy="310896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6" name="Enhance_S5_PillText_ff"/>
          <p:cNvSpPr txBox="1"/>
          <p:nvPr/>
        </p:nvSpPr>
        <p:spPr>
          <a:xfrm>
            <a:off x="502920" y="4956048"/>
            <a:ext cx="5669280" cy="31089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1300" b="1" spc="150">
                <a:solidFill>
                  <a:srgbClr val="FFFFFF"/>
                </a:solidFill>
                <a:latin typeface="Arial"/>
              </a:rPr>
              <a:t>Feasibility Facts</a:t>
            </a:r>
          </a:p>
        </p:txBody>
      </p:sp>
      <p:sp>
        <p:nvSpPr>
          <p:cNvPr id="1045" name="Enhance_S5_PillShine_ff"/>
          <p:cNvSpPr/>
          <p:nvPr/>
        </p:nvSpPr>
        <p:spPr>
          <a:xfrm>
            <a:off x="374904" y="4965192"/>
            <a:ext cx="5925312" cy="146304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1" name="Enhance_S5_Card_ff"/>
          <p:cNvSpPr/>
          <p:nvPr/>
        </p:nvSpPr>
        <p:spPr>
          <a:xfrm>
            <a:off x="292608" y="5321808"/>
            <a:ext cx="6089904" cy="53035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25400" dir="5400000" algn="ctr" rotWithShape="0">
              <a:srgbClr val="0F172A">
                <a:alpha val="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2" name="Enhance_S5_CardAccent_ff"/>
          <p:cNvSpPr/>
          <p:nvPr/>
        </p:nvSpPr>
        <p:spPr>
          <a:xfrm>
            <a:off x="292608" y="5321808"/>
            <a:ext cx="45720" cy="53035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Oval 1032"/>
          <p:cNvSpPr/>
          <p:nvPr/>
        </p:nvSpPr>
        <p:spPr>
          <a:xfrm>
            <a:off x="365760" y="54406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extBox 1033"/>
          <p:cNvSpPr txBox="1"/>
          <p:nvPr/>
        </p:nvSpPr>
        <p:spPr>
          <a:xfrm>
            <a:off x="566928" y="5367528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0F172A"/>
                </a:solidFill>
                <a:latin typeface="Arial"/>
              </a:rPr>
              <a:t>Europol IOCTA - </a:t>
            </a:r>
            <a:r>
              <a:rPr sz="1200" dirty="0">
                <a:solidFill>
                  <a:srgbClr val="334155"/>
                </a:solidFill>
                <a:latin typeface="Arial"/>
              </a:rPr>
              <a:t>Annual strategic report covering cryptocurrencies as a cybercrime enabler - </a:t>
            </a:r>
            <a:r>
              <a:rPr sz="1200" dirty="0">
                <a:solidFill>
                  <a:srgbClr val="475569"/>
                </a:solidFill>
                <a:latin typeface="Arial"/>
              </a:rPr>
              <a:t>europol.europa.eu/publications-events/main-reports/</a:t>
            </a:r>
            <a:r>
              <a:rPr sz="1200" dirty="0" err="1">
                <a:solidFill>
                  <a:srgbClr val="475569"/>
                </a:solidFill>
                <a:latin typeface="Arial"/>
              </a:rPr>
              <a:t>iocta</a:t>
            </a:r>
            <a:r>
              <a:rPr sz="1200" dirty="0">
                <a:solidFill>
                  <a:srgbClr val="475569"/>
                </a:solidFill>
                <a:latin typeface="Arial"/>
              </a:rPr>
              <a:t>-report</a:t>
            </a:r>
          </a:p>
        </p:txBody>
      </p:sp>
      <p:sp>
        <p:nvSpPr>
          <p:cNvPr id="1053" name="Enhance_S5_TableShadow"/>
          <p:cNvSpPr/>
          <p:nvPr/>
        </p:nvSpPr>
        <p:spPr>
          <a:xfrm>
            <a:off x="6601968" y="1170432"/>
            <a:ext cx="5349240" cy="4846320"/>
          </a:xfrm>
          <a:prstGeom prst="roundRect">
            <a:avLst/>
          </a:prstGeom>
          <a:solidFill>
            <a:srgbClr val="0F17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35" name="Table 10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267201"/>
              </p:ext>
            </p:extLst>
          </p:nvPr>
        </p:nvGraphicFramePr>
        <p:xfrm>
          <a:off x="6583680" y="1143000"/>
          <a:ext cx="5349240" cy="4829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109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SIH26146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Existing Systems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F172A"/>
                          </a:solidFill>
                          <a:latin typeface="Arial"/>
                        </a:rPr>
                        <a:t>Real-time Wallet Risk Scoring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F172A"/>
                          </a:solidFill>
                          <a:latin typeface="Arial"/>
                        </a:rPr>
                        <a:t>Peeling-Chain Detection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CoinJoin / Mixing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97706"/>
                          </a:solidFill>
                          <a:latin typeface="Arial"/>
                        </a:rPr>
                        <a:t>Limited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Air-Gapped CPU-Only Inference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Court-Admissible Forensic Dossier Export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65" name="Enhance_S5_IconNo_5"/>
          <p:cNvSpPr/>
          <p:nvPr/>
        </p:nvSpPr>
        <p:spPr>
          <a:xfrm>
            <a:off x="10652760" y="5465768"/>
            <a:ext cx="182880" cy="182880"/>
          </a:xfrm>
          <a:prstGeom prst="diamond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4" name="Enhance_S5_IconYes_5"/>
          <p:cNvSpPr/>
          <p:nvPr/>
        </p:nvSpPr>
        <p:spPr>
          <a:xfrm>
            <a:off x="9354312" y="546576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3" name="Enhance_S5_IconNo_4"/>
          <p:cNvSpPr/>
          <p:nvPr/>
        </p:nvSpPr>
        <p:spPr>
          <a:xfrm>
            <a:off x="10652760" y="4635746"/>
            <a:ext cx="182880" cy="182880"/>
          </a:xfrm>
          <a:prstGeom prst="diamond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2" name="Enhance_S5_IconYes_4"/>
          <p:cNvSpPr/>
          <p:nvPr/>
        </p:nvSpPr>
        <p:spPr>
          <a:xfrm>
            <a:off x="9354312" y="4635746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1" name="Enhance_S5_IconLimited_3"/>
          <p:cNvSpPr/>
          <p:nvPr/>
        </p:nvSpPr>
        <p:spPr>
          <a:xfrm>
            <a:off x="10652760" y="3805724"/>
            <a:ext cx="182880" cy="1828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0" name="Enhance_S5_IconYes_3"/>
          <p:cNvSpPr/>
          <p:nvPr/>
        </p:nvSpPr>
        <p:spPr>
          <a:xfrm>
            <a:off x="9354312" y="3805724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9" name="Enhance_S5_IconNo_2"/>
          <p:cNvSpPr/>
          <p:nvPr/>
        </p:nvSpPr>
        <p:spPr>
          <a:xfrm>
            <a:off x="10652760" y="2975702"/>
            <a:ext cx="182880" cy="182880"/>
          </a:xfrm>
          <a:prstGeom prst="diamond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8" name="Enhance_S5_IconYes_2"/>
          <p:cNvSpPr/>
          <p:nvPr/>
        </p:nvSpPr>
        <p:spPr>
          <a:xfrm>
            <a:off x="9354312" y="2975702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7" name="Enhance_S5_IconNo_1"/>
          <p:cNvSpPr/>
          <p:nvPr/>
        </p:nvSpPr>
        <p:spPr>
          <a:xfrm>
            <a:off x="10652760" y="2145679"/>
            <a:ext cx="182880" cy="182880"/>
          </a:xfrm>
          <a:prstGeom prst="diamond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6" name="Enhance_S5_IconYes_1"/>
          <p:cNvSpPr/>
          <p:nvPr/>
        </p:nvSpPr>
        <p:spPr>
          <a:xfrm>
            <a:off x="9354312" y="2145679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5" name="Enhance_S5_HeadGradBot"/>
          <p:cNvSpPr/>
          <p:nvPr/>
        </p:nvSpPr>
        <p:spPr>
          <a:xfrm>
            <a:off x="6583680" y="1550465"/>
            <a:ext cx="5349240" cy="271643"/>
          </a:xfrm>
          <a:prstGeom prst="rect">
            <a:avLst/>
          </a:prstGeom>
          <a:solidFill>
            <a:srgbClr val="14264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4" name="Enhance_S5_HeadGradTop"/>
          <p:cNvSpPr/>
          <p:nvPr/>
        </p:nvSpPr>
        <p:spPr>
          <a:xfrm>
            <a:off x="6583680" y="1143000"/>
            <a:ext cx="5349240" cy="407465"/>
          </a:xfrm>
          <a:prstGeom prst="rect">
            <a:avLst/>
          </a:prstGeom>
          <a:solidFill>
            <a:srgbClr val="2D4F7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5" name="Text 4"/>
          <p:cNvSpPr/>
          <p:nvPr/>
        </p:nvSpPr>
        <p:spPr>
          <a:xfrm>
            <a:off x="3039540" y="506852"/>
            <a:ext cx="8686800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spc="8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3600" dirty="0"/>
          </a:p>
        </p:txBody>
      </p:sp>
      <p:sp>
        <p:nvSpPr>
          <p:cNvPr id="1037" name="Enhance_S5_TaglineText"/>
          <p:cNvSpPr txBox="1"/>
          <p:nvPr/>
        </p:nvSpPr>
        <p:spPr>
          <a:xfrm>
            <a:off x="3136392" y="978408"/>
            <a:ext cx="8686800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sz="900" i="1" spc="50">
                <a:solidFill>
                  <a:srgbClr val="475569"/>
                </a:solidFill>
                <a:latin typeface="Arial"/>
              </a:rPr>
              <a:t>Verified industry platforms  -  peer-reviewed papers  -  FATF-aligned standards</a:t>
            </a:r>
          </a:p>
        </p:txBody>
      </p:sp>
      <p:sp>
        <p:nvSpPr>
          <p:cNvPr id="1036" name="Enhance_S5_TitleAccentRule"/>
          <p:cNvSpPr/>
          <p:nvPr/>
        </p:nvSpPr>
        <p:spPr>
          <a:xfrm>
            <a:off x="3136392" y="950976"/>
            <a:ext cx="2743200" cy="2560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3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084" name="Enhance_S5_FooterLabel"/>
          <p:cNvSpPr txBox="1"/>
          <p:nvPr/>
        </p:nvSpPr>
        <p:spPr>
          <a:xfrm>
            <a:off x="548640" y="6355994"/>
            <a:ext cx="411480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spc="100">
                <a:solidFill>
                  <a:srgbClr val="2563EB"/>
                </a:solidFill>
                <a:latin typeface="Arial"/>
              </a:rPr>
              <a:t>Research &amp; References  -  SIH26146</a:t>
            </a:r>
          </a:p>
        </p:txBody>
      </p:sp>
      <p:sp>
        <p:nvSpPr>
          <p:cNvPr id="1083" name="Enhance_S5_FooterDiamond"/>
          <p:cNvSpPr/>
          <p:nvPr/>
        </p:nvSpPr>
        <p:spPr>
          <a:xfrm>
            <a:off x="274320" y="6516014"/>
            <a:ext cx="182880" cy="1828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987</Words>
  <Application>Microsoft Office PowerPoint</Application>
  <PresentationFormat>Widescreen</PresentationFormat>
  <Paragraphs>110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mohd faizan</cp:lastModifiedBy>
  <cp:revision>11</cp:revision>
  <dcterms:created xsi:type="dcterms:W3CDTF">2026-09-23T19:08:33Z</dcterms:created>
  <dcterms:modified xsi:type="dcterms:W3CDTF">2026-09-26T11:31:50Z</dcterms:modified>
</cp:coreProperties>
</file>