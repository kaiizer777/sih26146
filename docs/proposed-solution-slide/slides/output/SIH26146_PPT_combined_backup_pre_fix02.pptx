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nhance_HeroTopStripe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1325880"/>
            <a:ext cx="1219169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Enhance_SubtitlePill"/>
          <p:cNvSpPr/>
          <p:nvPr/>
        </p:nvSpPr>
        <p:spPr>
          <a:xfrm>
            <a:off x="3840480" y="2542032"/>
            <a:ext cx="4507992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7"/>
          <p:cNvSpPr/>
          <p:nvPr/>
        </p:nvSpPr>
        <p:spPr>
          <a:xfrm>
            <a:off x="0" y="2542032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 |  Smart India Hackathon 2026</a:t>
            </a:r>
            <a:endParaRPr lang="en-US" sz="1100" dirty="0"/>
          </a:p>
        </p:txBody>
      </p:sp>
      <p:sp>
        <p:nvSpPr>
          <p:cNvPr id="115" name="Enhance_CardIcon_1"/>
          <p:cNvSpPr/>
          <p:nvPr/>
        </p:nvSpPr>
        <p:spPr>
          <a:xfrm>
            <a:off x="7406640" y="3154679"/>
            <a:ext cx="182880" cy="182880"/>
          </a:xfrm>
          <a:prstGeom prst="ellips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320954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Enhance_CardInnerStripe_1"/>
          <p:cNvSpPr/>
          <p:nvPr/>
        </p:nvSpPr>
        <p:spPr>
          <a:xfrm>
            <a:off x="621792" y="301752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CardMarkerOuter_1"/>
          <p:cNvSpPr/>
          <p:nvPr/>
        </p:nvSpPr>
        <p:spPr>
          <a:xfrm>
            <a:off x="731520" y="3182112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Enhance_CardMarkerCenter_1"/>
          <p:cNvSpPr/>
          <p:nvPr/>
        </p:nvSpPr>
        <p:spPr>
          <a:xfrm>
            <a:off x="763524" y="321411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017520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ID:  </a:t>
            </a:r>
            <a:r>
              <a:rPr sz="1200" b="0">
                <a:solidFill>
                  <a:srgbClr val="0F172A"/>
                </a:solidFill>
                <a:latin typeface="Arial"/>
              </a:rPr>
              <a:t>26146</a:t>
            </a:r>
            <a:endParaRPr lang="en-US" sz="1200" dirty="0"/>
          </a:p>
        </p:txBody>
      </p:sp>
      <p:sp>
        <p:nvSpPr>
          <p:cNvPr id="65" name="Enhance_CardInnerStripe_2"/>
          <p:cNvSpPr/>
          <p:nvPr/>
        </p:nvSpPr>
        <p:spPr>
          <a:xfrm>
            <a:off x="621792" y="3529584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nhance_CardMarkerOuter_2"/>
          <p:cNvSpPr/>
          <p:nvPr/>
        </p:nvSpPr>
        <p:spPr>
          <a:xfrm>
            <a:off x="731520" y="3694176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Enhance_CardMarkerCenter_2"/>
          <p:cNvSpPr/>
          <p:nvPr/>
        </p:nvSpPr>
        <p:spPr>
          <a:xfrm>
            <a:off x="763524" y="372618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Enhance_CardIcon_2"/>
          <p:cNvSpPr/>
          <p:nvPr/>
        </p:nvSpPr>
        <p:spPr>
          <a:xfrm>
            <a:off x="7406640" y="3666744"/>
            <a:ext cx="182880" cy="182880"/>
          </a:xfrm>
          <a:prstGeom prst="rect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721608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529584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Title:  </a:t>
            </a:r>
            <a:r>
              <a:rPr sz="1200" b="0">
                <a:solidFill>
                  <a:srgbClr val="0F172A"/>
                </a:solidFill>
                <a:latin typeface="Arial"/>
              </a:rPr>
              <a:t>AI-Powered Monitoring &amp; Analysis of Bitcoin Transaction Traffic</a:t>
            </a:r>
            <a:endParaRPr lang="en-US" sz="1200" dirty="0"/>
          </a:p>
        </p:txBody>
      </p:sp>
      <p:sp>
        <p:nvSpPr>
          <p:cNvPr id="69" name="Enhance_CardInnerStripe_3"/>
          <p:cNvSpPr/>
          <p:nvPr/>
        </p:nvSpPr>
        <p:spPr>
          <a:xfrm>
            <a:off x="621792" y="4041648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Enhance_CardMarkerOuter_3"/>
          <p:cNvSpPr/>
          <p:nvPr/>
        </p:nvSpPr>
        <p:spPr>
          <a:xfrm>
            <a:off x="731520" y="4206240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Enhance_CardMarkerCenter_3"/>
          <p:cNvSpPr/>
          <p:nvPr/>
        </p:nvSpPr>
        <p:spPr>
          <a:xfrm>
            <a:off x="763524" y="42382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Enhance_CardIcon_3"/>
          <p:cNvSpPr/>
          <p:nvPr/>
        </p:nvSpPr>
        <p:spPr>
          <a:xfrm>
            <a:off x="7406640" y="4178808"/>
            <a:ext cx="182880" cy="182880"/>
          </a:xfrm>
          <a:prstGeom prst="chevr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041648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4041648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Theme:  </a:t>
            </a:r>
            <a:r>
              <a:rPr sz="1200" b="0">
                <a:solidFill>
                  <a:srgbClr val="0F172A"/>
                </a:solidFill>
                <a:latin typeface="Arial"/>
              </a:rPr>
              <a:t>Blockchain &amp; Cybersecurity</a:t>
            </a:r>
            <a:endParaRPr lang="en-US" sz="1200" dirty="0"/>
          </a:p>
        </p:txBody>
      </p:sp>
      <p:sp>
        <p:nvSpPr>
          <p:cNvPr id="73" name="Enhance_CardInnerStripe_4"/>
          <p:cNvSpPr/>
          <p:nvPr/>
        </p:nvSpPr>
        <p:spPr>
          <a:xfrm>
            <a:off x="621792" y="4553712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Enhance_CardMarkerOuter_4"/>
          <p:cNvSpPr/>
          <p:nvPr/>
        </p:nvSpPr>
        <p:spPr>
          <a:xfrm>
            <a:off x="731520" y="4718304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Enhance_CardMarkerCenter_4"/>
          <p:cNvSpPr/>
          <p:nvPr/>
        </p:nvSpPr>
        <p:spPr>
          <a:xfrm>
            <a:off x="763524" y="475030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Enhance_CardIcon_4"/>
          <p:cNvSpPr/>
          <p:nvPr/>
        </p:nvSpPr>
        <p:spPr>
          <a:xfrm>
            <a:off x="7406640" y="4690872"/>
            <a:ext cx="182880" cy="182880"/>
          </a:xfrm>
          <a:prstGeom prst="diamond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553712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5800" y="4745736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4553712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PS Category:  </a:t>
            </a:r>
            <a:r>
              <a:rPr sz="1200" b="0">
                <a:solidFill>
                  <a:srgbClr val="0F172A"/>
                </a:solidFill>
                <a:latin typeface="Arial"/>
              </a:rPr>
              <a:t>Software</a:t>
            </a:r>
            <a:endParaRPr lang="en-US" sz="1200" dirty="0"/>
          </a:p>
        </p:txBody>
      </p:sp>
      <p:sp>
        <p:nvSpPr>
          <p:cNvPr id="77" name="Enhance_CardInnerStripe_5"/>
          <p:cNvSpPr/>
          <p:nvPr/>
        </p:nvSpPr>
        <p:spPr>
          <a:xfrm>
            <a:off x="621792" y="5065776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Enhance_CardMarkerOuter_5"/>
          <p:cNvSpPr/>
          <p:nvPr/>
        </p:nvSpPr>
        <p:spPr>
          <a:xfrm>
            <a:off x="731520" y="5230368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Enhance_CardMarkerCenter_5"/>
          <p:cNvSpPr/>
          <p:nvPr/>
        </p:nvSpPr>
        <p:spPr>
          <a:xfrm>
            <a:off x="763524" y="526237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Enhance_CardIcon_5"/>
          <p:cNvSpPr/>
          <p:nvPr/>
        </p:nvSpPr>
        <p:spPr>
          <a:xfrm>
            <a:off x="7406640" y="5202936"/>
            <a:ext cx="182880" cy="182880"/>
          </a:xfrm>
          <a:prstGeom prst="triangl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 24"/>
          <p:cNvSpPr/>
          <p:nvPr/>
        </p:nvSpPr>
        <p:spPr>
          <a:xfrm>
            <a:off x="457200" y="5065776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5065776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5800" y="5257800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5065776"/>
            <a:ext cx="6355080" cy="45720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ID:  </a:t>
            </a:r>
            <a:endParaRPr lang="en-US" sz="1200" dirty="0"/>
          </a:p>
        </p:txBody>
      </p:sp>
      <p:sp>
        <p:nvSpPr>
          <p:cNvPr id="81" name="Enhance_CardInnerStripe_6"/>
          <p:cNvSpPr/>
          <p:nvPr/>
        </p:nvSpPr>
        <p:spPr>
          <a:xfrm>
            <a:off x="621792" y="557784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nhance_CardMarkerOuter_6"/>
          <p:cNvSpPr/>
          <p:nvPr/>
        </p:nvSpPr>
        <p:spPr>
          <a:xfrm>
            <a:off x="731520" y="5742431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Enhance_CardMarkerCenter_6"/>
          <p:cNvSpPr/>
          <p:nvPr/>
        </p:nvSpPr>
        <p:spPr>
          <a:xfrm>
            <a:off x="763524" y="57744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Enhance_CardIcon_6"/>
          <p:cNvSpPr/>
          <p:nvPr/>
        </p:nvSpPr>
        <p:spPr>
          <a:xfrm>
            <a:off x="7406640" y="5715000"/>
            <a:ext cx="182880" cy="182880"/>
          </a:xfrm>
          <a:prstGeom prst="hexag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557784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" y="576986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Name:  </a:t>
            </a:r>
            <a:r>
              <a:rPr sz="1200" b="0">
                <a:solidFill>
                  <a:srgbClr val="0F172A"/>
                </a:solidFill>
                <a:latin typeface="Arial"/>
              </a:rPr>
              <a:t>AlertX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80960" y="3017520"/>
            <a:ext cx="4114800" cy="3017520"/>
          </a:xfrm>
          <a:prstGeom prst="roundRect">
            <a:avLst>
              <a:gd name="adj" fmla="val 2424"/>
            </a:avLst>
          </a:prstGeom>
          <a:noFill/>
          <a:ln w="12700">
            <a:noFill/>
            <a:prstDash val="solid"/>
          </a:ln>
          <a:effectLst>
            <a:outerShdw blurRad="152400" dist="25400" dir="5400000" algn="ctr" rotWithShape="0">
              <a:srgbClr val="000000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Enhance_HexDotPattern_1"/>
          <p:cNvSpPr/>
          <p:nvPr/>
        </p:nvSpPr>
        <p:spPr>
          <a:xfrm>
            <a:off x="82296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Enhance_HexDotPattern_2"/>
          <p:cNvSpPr/>
          <p:nvPr/>
        </p:nvSpPr>
        <p:spPr>
          <a:xfrm>
            <a:off x="86868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Enhance_HexDotPattern_3"/>
          <p:cNvSpPr/>
          <p:nvPr/>
        </p:nvSpPr>
        <p:spPr>
          <a:xfrm>
            <a:off x="9144000" y="34747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Enhance_HexDotPattern_4"/>
          <p:cNvSpPr/>
          <p:nvPr/>
        </p:nvSpPr>
        <p:spPr>
          <a:xfrm>
            <a:off x="9601200" y="384048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Enhance_HexDotPattern_5"/>
          <p:cNvSpPr/>
          <p:nvPr/>
        </p:nvSpPr>
        <p:spPr>
          <a:xfrm>
            <a:off x="100584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Enhance_HexDotPattern_6"/>
          <p:cNvSpPr/>
          <p:nvPr/>
        </p:nvSpPr>
        <p:spPr>
          <a:xfrm>
            <a:off x="105156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Enhance_HexDotPattern_7"/>
          <p:cNvSpPr/>
          <p:nvPr/>
        </p:nvSpPr>
        <p:spPr>
          <a:xfrm>
            <a:off x="109728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Enhance_HexDotPattern_8"/>
          <p:cNvSpPr/>
          <p:nvPr/>
        </p:nvSpPr>
        <p:spPr>
          <a:xfrm>
            <a:off x="11247120" y="39319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Enhance_HexDotPattern_9"/>
          <p:cNvSpPr/>
          <p:nvPr/>
        </p:nvSpPr>
        <p:spPr>
          <a:xfrm>
            <a:off x="8412480" y="53492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Enhance_HexDotPattern_10"/>
          <p:cNvSpPr/>
          <p:nvPr/>
        </p:nvSpPr>
        <p:spPr>
          <a:xfrm>
            <a:off x="8869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Enhance_HexDotPattern_11"/>
          <p:cNvSpPr/>
          <p:nvPr/>
        </p:nvSpPr>
        <p:spPr>
          <a:xfrm>
            <a:off x="10789920" y="539496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Enhance_HexDotPattern_12"/>
          <p:cNvSpPr/>
          <p:nvPr/>
        </p:nvSpPr>
        <p:spPr>
          <a:xfrm>
            <a:off x="11155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ape 33"/>
          <p:cNvSpPr/>
          <p:nvPr/>
        </p:nvSpPr>
        <p:spPr>
          <a:xfrm>
            <a:off x="7863840" y="320040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0" y="3611879"/>
            <a:ext cx="1188720" cy="155448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0" dirty="0"/>
          </a:p>
        </p:txBody>
      </p:sp>
      <p:sp>
        <p:nvSpPr>
          <p:cNvPr id="39" name="Shape 36"/>
          <p:cNvSpPr/>
          <p:nvPr/>
        </p:nvSpPr>
        <p:spPr>
          <a:xfrm>
            <a:off x="10396112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395813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564624" y="517550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733136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733136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809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|  AML  |  NTRO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008815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nhance_HeroHexWatermark_1"/>
          <p:cNvSpPr/>
          <p:nvPr/>
        </p:nvSpPr>
        <p:spPr>
          <a:xfrm>
            <a:off x="8595360" y="45720"/>
            <a:ext cx="164592" cy="164592"/>
          </a:xfrm>
          <a:prstGeom prst="hexagon">
            <a:avLst/>
          </a:prstGeom>
          <a:solidFill>
            <a:srgbClr val="BFDBF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HeroHexWatermark_2"/>
          <p:cNvSpPr/>
          <p:nvPr/>
        </p:nvSpPr>
        <p:spPr>
          <a:xfrm>
            <a:off x="9098280" y="91440"/>
            <a:ext cx="201168" cy="201168"/>
          </a:xfrm>
          <a:prstGeom prst="hexagon">
            <a:avLst/>
          </a:prstGeom>
          <a:solidFill>
            <a:srgbClr val="BFDBF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nhance_HeroHexWatermark_3"/>
          <p:cNvSpPr/>
          <p:nvPr/>
        </p:nvSpPr>
        <p:spPr>
          <a:xfrm>
            <a:off x="9646920" y="36576"/>
            <a:ext cx="164592" cy="164592"/>
          </a:xfrm>
          <a:prstGeom prst="hexagon">
            <a:avLst/>
          </a:prstGeom>
          <a:solidFill>
            <a:srgbClr val="BFDBFE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HeroHexWatermark_4"/>
          <p:cNvSpPr/>
          <p:nvPr/>
        </p:nvSpPr>
        <p:spPr>
          <a:xfrm>
            <a:off x="10149840" y="109728"/>
            <a:ext cx="182880" cy="182880"/>
          </a:xfrm>
          <a:prstGeom prst="hexagon">
            <a:avLst/>
          </a:prstGeom>
          <a:solidFill>
            <a:srgbClr val="BFDB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9784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97" name="Enhance_OrbitRing_1"/>
          <p:cNvSpPr/>
          <p:nvPr/>
        </p:nvSpPr>
        <p:spPr>
          <a:xfrm>
            <a:off x="8915400" y="3566160"/>
            <a:ext cx="1645920" cy="1645920"/>
          </a:xfrm>
          <a:prstGeom prst="ellipse">
            <a:avLst/>
          </a:prstGeom>
          <a:noFill/>
          <a:ln w="15875">
            <a:solidFill>
              <a:srgbClr val="2563EB">
                <a:alpha val="2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Enhance_OrbitRing_2"/>
          <p:cNvSpPr/>
          <p:nvPr/>
        </p:nvSpPr>
        <p:spPr>
          <a:xfrm>
            <a:off x="8549640" y="3200400"/>
            <a:ext cx="2377440" cy="2377440"/>
          </a:xfrm>
          <a:prstGeom prst="ellipse">
            <a:avLst/>
          </a:prstGeom>
          <a:noFill/>
          <a:ln w="12700">
            <a:solidFill>
              <a:srgbClr val="2563EB">
                <a:alpha val="2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Enhance_OrbitRing_3"/>
          <p:cNvSpPr/>
          <p:nvPr/>
        </p:nvSpPr>
        <p:spPr>
          <a:xfrm>
            <a:off x="8229600" y="2880360"/>
            <a:ext cx="3017520" cy="3017520"/>
          </a:xfrm>
          <a:prstGeom prst="ellipse">
            <a:avLst/>
          </a:prstGeom>
          <a:noFill/>
          <a:ln w="9525">
            <a:solidFill>
              <a:srgbClr val="2563EB">
                <a:alpha val="1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ape 35"/>
          <p:cNvSpPr/>
          <p:nvPr/>
        </p:nvSpPr>
        <p:spPr>
          <a:xfrm>
            <a:off x="9564624" y="325526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10505" y="1674266"/>
            <a:ext cx="1371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ldAccentHighlight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AlertXBackdrop"/>
          <p:cNvSpPr/>
          <p:nvPr/>
        </p:nvSpPr>
        <p:spPr>
          <a:xfrm>
            <a:off x="2286000" y="1691640"/>
            <a:ext cx="7616952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>
            <a:outerShdw blurRad="152400" dist="25400" dir="5400000" algn="ctr" rotWithShape="0">
              <a:srgbClr val="000000">
                <a:alpha val="8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AlertXBackdropTopRule"/>
          <p:cNvSpPr/>
          <p:nvPr/>
        </p:nvSpPr>
        <p:spPr>
          <a:xfrm>
            <a:off x="2286000" y="1691640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AlertXBackdropBottomRule"/>
          <p:cNvSpPr/>
          <p:nvPr/>
        </p:nvSpPr>
        <p:spPr>
          <a:xfrm>
            <a:off x="2286000" y="2798064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AlertXBShield"/>
          <p:cNvSpPr/>
          <p:nvPr/>
        </p:nvSpPr>
        <p:spPr>
          <a:xfrm>
            <a:off x="2834640" y="1874519"/>
            <a:ext cx="822960" cy="8229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76200" dist="12700" dir="5400000" algn="ctr" rotWithShape="0">
              <a:srgbClr val="000000">
                <a:alpha val="14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Enhance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Enhance_FooterLabel"/>
          <p:cNvSpPr/>
          <p:nvPr/>
        </p:nvSpPr>
        <p:spPr>
          <a:xfrm>
            <a:off x="640080" y="6492240"/>
            <a:ext cx="20116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417320" cy="777240"/>
          </a:xfrm>
          <a:prstGeom prst="rect">
            <a:avLst/>
          </a:prstGeom>
          <a:ln>
            <a:noFill/>
          </a:ln>
        </p:spPr>
      </p:pic>
      <p:cxnSp>
        <p:nvCxnSpPr>
          <p:cNvPr id="54" name="Enhance_HeroAccentLine"/>
          <p:cNvCxnSpPr/>
          <p:nvPr/>
        </p:nvCxnSpPr>
        <p:spPr>
          <a:xfrm>
            <a:off x="11155680" y="0"/>
            <a:ext cx="731520" cy="11887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6"/>
          <p:cNvSpPr/>
          <p:nvPr/>
        </p:nvSpPr>
        <p:spPr>
          <a:xfrm>
            <a:off x="0" y="175564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4400" dirty="0"/>
          </a:p>
        </p:txBody>
      </p:sp>
      <p:sp>
        <p:nvSpPr>
          <p:cNvPr id="59" name="Enhance_AlertXBShieldGlyph"/>
          <p:cNvSpPr txBox="1"/>
          <p:nvPr/>
        </p:nvSpPr>
        <p:spPr>
          <a:xfrm>
            <a:off x="2834640" y="1920240"/>
            <a:ext cx="82296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5" name="Shape 42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Enhance_FooterLabelText"/>
          <p:cNvSpPr txBox="1"/>
          <p:nvPr/>
        </p:nvSpPr>
        <p:spPr>
          <a:xfrm>
            <a:off x="713232" y="6492240"/>
            <a:ext cx="19202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Cover -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nhance_S2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S2_FooterLabelBg"/>
          <p:cNvSpPr/>
          <p:nvPr/>
        </p:nvSpPr>
        <p:spPr>
          <a:xfrm>
            <a:off x="640080" y="6492240"/>
            <a:ext cx="237744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9540" y="506852"/>
            <a:ext cx="4723528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spc="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9" name="Enhance_S2_TitleTintBand"/>
          <p:cNvSpPr/>
          <p:nvPr/>
        </p:nvSpPr>
        <p:spPr>
          <a:xfrm>
            <a:off x="164592" y="457200"/>
            <a:ext cx="4846320" cy="548640"/>
          </a:xfrm>
          <a:prstGeom prst="rect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nhance_S2_TitleAccentRule"/>
          <p:cNvSpPr/>
          <p:nvPr/>
        </p:nvSpPr>
        <p:spPr>
          <a:xfrm>
            <a:off x="2769717" y="1078992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21" name="Enhance_S2_PillarCard_1"/>
          <p:cNvSpPr/>
          <p:nvPr/>
        </p:nvSpPr>
        <p:spPr>
          <a:xfrm>
            <a:off x="164592" y="12801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nhance_S2_PillarStripe_1"/>
          <p:cNvSpPr/>
          <p:nvPr/>
        </p:nvSpPr>
        <p:spPr>
          <a:xfrm>
            <a:off x="164592" y="1280160"/>
            <a:ext cx="9144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nhance_S2_BgDot_1"/>
          <p:cNvSpPr/>
          <p:nvPr/>
        </p:nvSpPr>
        <p:spPr>
          <a:xfrm>
            <a:off x="411480" y="1298448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nhance_S2_BgDot_2"/>
          <p:cNvSpPr/>
          <p:nvPr/>
        </p:nvSpPr>
        <p:spPr>
          <a:xfrm>
            <a:off x="5029200" y="132588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Enhance_S2_BgDot_3"/>
          <p:cNvSpPr/>
          <p:nvPr/>
        </p:nvSpPr>
        <p:spPr>
          <a:xfrm>
            <a:off x="411480" y="2926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Enhance_S2_BgDot_4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Enhance_S2_BgDot_5"/>
          <p:cNvSpPr/>
          <p:nvPr/>
        </p:nvSpPr>
        <p:spPr>
          <a:xfrm>
            <a:off x="411480" y="39319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Enhance_S2_BgDot_6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nhance_S2_BgDot_7"/>
          <p:cNvSpPr/>
          <p:nvPr/>
        </p:nvSpPr>
        <p:spPr>
          <a:xfrm>
            <a:off x="411480" y="4937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Enhance_S2_BgDot_8"/>
          <p:cNvSpPr/>
          <p:nvPr/>
        </p:nvSpPr>
        <p:spPr>
          <a:xfrm>
            <a:off x="5029200" y="594360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Enhance_S2_BgDot_9"/>
          <p:cNvSpPr/>
          <p:nvPr/>
        </p:nvSpPr>
        <p:spPr>
          <a:xfrm>
            <a:off x="53492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Enhance_S2_BgDot_10"/>
          <p:cNvSpPr/>
          <p:nvPr/>
        </p:nvSpPr>
        <p:spPr>
          <a:xfrm>
            <a:off x="119786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S2_BgDot_11"/>
          <p:cNvSpPr/>
          <p:nvPr/>
        </p:nvSpPr>
        <p:spPr>
          <a:xfrm>
            <a:off x="53492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nhance_S2_BgDot_12"/>
          <p:cNvSpPr/>
          <p:nvPr/>
        </p:nvSpPr>
        <p:spPr>
          <a:xfrm>
            <a:off x="119786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S2_BgDot_13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Enhance_S2_BgDot_1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S2_BgDot_15"/>
          <p:cNvSpPr/>
          <p:nvPr/>
        </p:nvSpPr>
        <p:spPr>
          <a:xfrm>
            <a:off x="73152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S2_BgDot_16"/>
          <p:cNvSpPr/>
          <p:nvPr/>
        </p:nvSpPr>
        <p:spPr>
          <a:xfrm>
            <a:off x="100584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S2_BgDot_17"/>
          <p:cNvSpPr/>
          <p:nvPr/>
        </p:nvSpPr>
        <p:spPr>
          <a:xfrm>
            <a:off x="2743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S2_BgDot_18"/>
          <p:cNvSpPr/>
          <p:nvPr/>
        </p:nvSpPr>
        <p:spPr>
          <a:xfrm>
            <a:off x="45720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Enhance_S2_BgDot_19"/>
          <p:cNvSpPr/>
          <p:nvPr/>
        </p:nvSpPr>
        <p:spPr>
          <a:xfrm>
            <a:off x="7315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Enhance_S2_BgDot_20"/>
          <p:cNvSpPr/>
          <p:nvPr/>
        </p:nvSpPr>
        <p:spPr>
          <a:xfrm>
            <a:off x="100584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SYSTEM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200" dirty="0"/>
          </a:p>
        </p:txBody>
      </p:sp>
      <p:sp>
        <p:nvSpPr>
          <p:cNvPr id="23" name="Enhance_S2_PillarCard_2"/>
          <p:cNvSpPr/>
          <p:nvPr/>
        </p:nvSpPr>
        <p:spPr>
          <a:xfrm>
            <a:off x="164592" y="21945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nhance_S2_PillarStripe_2"/>
          <p:cNvSpPr/>
          <p:nvPr/>
        </p:nvSpPr>
        <p:spPr>
          <a:xfrm>
            <a:off x="164592" y="219456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1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200" dirty="0"/>
          </a:p>
        </p:txBody>
      </p:sp>
      <p:sp>
        <p:nvSpPr>
          <p:cNvPr id="25" name="Enhance_S2_PillarCard_3"/>
          <p:cNvSpPr/>
          <p:nvPr/>
        </p:nvSpPr>
        <p:spPr>
          <a:xfrm>
            <a:off x="164592" y="310896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nhance_S2_PillarStripe_3"/>
          <p:cNvSpPr/>
          <p:nvPr/>
        </p:nvSpPr>
        <p:spPr>
          <a:xfrm>
            <a:off x="164592" y="3108960"/>
            <a:ext cx="9144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2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200" dirty="0"/>
          </a:p>
        </p:txBody>
      </p:sp>
      <p:sp>
        <p:nvSpPr>
          <p:cNvPr id="27" name="Enhance_S2_PillarCard_4"/>
          <p:cNvSpPr/>
          <p:nvPr/>
        </p:nvSpPr>
        <p:spPr>
          <a:xfrm>
            <a:off x="164592" y="411480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nhance_S2_PillarStripe_4"/>
          <p:cNvSpPr/>
          <p:nvPr/>
        </p:nvSpPr>
        <p:spPr>
          <a:xfrm>
            <a:off x="164592" y="4114800"/>
            <a:ext cx="9144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3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200" dirty="0"/>
          </a:p>
        </p:txBody>
      </p:sp>
      <p:sp>
        <p:nvSpPr>
          <p:cNvPr id="29" name="Enhance_S2_PillarCard_5"/>
          <p:cNvSpPr/>
          <p:nvPr/>
        </p:nvSpPr>
        <p:spPr>
          <a:xfrm>
            <a:off x="164592" y="512064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nhance_S2_PillarStripe_5"/>
          <p:cNvSpPr/>
          <p:nvPr/>
        </p:nvSpPr>
        <p:spPr>
          <a:xfrm>
            <a:off x="164592" y="5120640"/>
            <a:ext cx="914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4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200" dirty="0"/>
          </a:p>
        </p:txBody>
      </p:sp>
      <p:sp>
        <p:nvSpPr>
          <p:cNvPr id="31" name="Enhance_S2_ArchCaptionPill"/>
          <p:cNvSpPr/>
          <p:nvPr/>
        </p:nvSpPr>
        <p:spPr>
          <a:xfrm>
            <a:off x="5349240" y="777240"/>
            <a:ext cx="34747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1106973"/>
            <a:ext cx="6944319" cy="5008626"/>
          </a:xfrm>
          <a:prstGeom prst="rect">
            <a:avLst/>
          </a:prstGeom>
        </p:spPr>
      </p:pic>
      <p:sp>
        <p:nvSpPr>
          <p:cNvPr id="33" name="Enhance_S2_Corner_TL_H"/>
          <p:cNvSpPr/>
          <p:nvPr/>
        </p:nvSpPr>
        <p:spPr>
          <a:xfrm>
            <a:off x="521116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nhance_S2_Corner_TL_V"/>
          <p:cNvSpPr/>
          <p:nvPr/>
        </p:nvSpPr>
        <p:spPr>
          <a:xfrm>
            <a:off x="5211165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nhance_S2_Corner_TR_H"/>
          <p:cNvSpPr/>
          <p:nvPr/>
        </p:nvSpPr>
        <p:spPr>
          <a:xfrm>
            <a:off x="1191737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Enhance_S2_Corner_TR_V"/>
          <p:cNvSpPr/>
          <p:nvPr/>
        </p:nvSpPr>
        <p:spPr>
          <a:xfrm>
            <a:off x="12155119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nhance_S2_Corner_BL_H"/>
          <p:cNvSpPr/>
          <p:nvPr/>
        </p:nvSpPr>
        <p:spPr>
          <a:xfrm>
            <a:off x="521116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Enhance_S2_Corner_BL_V"/>
          <p:cNvSpPr/>
          <p:nvPr/>
        </p:nvSpPr>
        <p:spPr>
          <a:xfrm>
            <a:off x="5211165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Enhance_S2_Corner_BR_H"/>
          <p:cNvSpPr/>
          <p:nvPr/>
        </p:nvSpPr>
        <p:spPr>
          <a:xfrm>
            <a:off x="1191737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nhance_S2_Corner_BR_V"/>
          <p:cNvSpPr/>
          <p:nvPr/>
        </p:nvSpPr>
        <p:spPr>
          <a:xfrm>
            <a:off x="12155119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229453" y="1107338"/>
            <a:ext cx="6943953" cy="5009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ctr" rotWithShape="0">
              <a:srgbClr val="1F3864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Enhance_S2_ArchCaptionText"/>
          <p:cNvSpPr txBox="1"/>
          <p:nvPr/>
        </p:nvSpPr>
        <p:spPr>
          <a:xfrm>
            <a:off x="5349240" y="777240"/>
            <a:ext cx="34747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spc="200">
                <a:solidFill>
                  <a:srgbClr val="FFFFFF"/>
                </a:solidFill>
                <a:latin typeface="Arial"/>
              </a:rPr>
              <a:t>ARCHITECTURE -- BITCOIN AML INTELLIGENCE PIPELINE</a:t>
            </a:r>
          </a:p>
        </p:txBody>
      </p:sp>
      <p:sp>
        <p:nvSpPr>
          <p:cNvPr id="2" name="Shape 0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Enhance_S2_FooterLabelText"/>
          <p:cNvSpPr txBox="1"/>
          <p:nvPr/>
        </p:nvSpPr>
        <p:spPr>
          <a:xfrm>
            <a:off x="713232" y="649224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Proposed Solution  --  SIH26146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1465" y="51370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16057" y="338326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61722"/>
            <a:ext cx="8229600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3737" y="51938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6177" y="261258"/>
            <a:ext cx="5917852" cy="70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pc="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63" name="CardBody_0"/>
          <p:cNvSpPr/>
          <p:nvPr/>
        </p:nvSpPr>
        <p:spPr>
          <a:xfrm>
            <a:off x="182880" y="1005840"/>
            <a:ext cx="5852160" cy="169164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ardTitleBar_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ardTitleText_0"/>
          <p:cNvSpPr txBox="1"/>
          <p:nvPr/>
        </p:nvSpPr>
        <p:spPr>
          <a:xfrm>
            <a:off x="685800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⚙️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66" name="CardBadgeBg_0"/>
          <p:cNvSpPr/>
          <p:nvPr/>
        </p:nvSpPr>
        <p:spPr>
          <a:xfrm>
            <a:off x="5632704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ardBadgeText_0"/>
          <p:cNvSpPr txBox="1"/>
          <p:nvPr/>
        </p:nvSpPr>
        <p:spPr>
          <a:xfrm>
            <a:off x="5632704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68" name="CardBullet_0_0"/>
          <p:cNvSpPr txBox="1"/>
          <p:nvPr/>
        </p:nvSpPr>
        <p:spPr>
          <a:xfrm>
            <a:off x="347472" y="1389888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Technical: </a:t>
            </a:r>
            <a:r>
              <a:rPr sz="950" b="0">
                <a:solidFill>
                  <a:srgbClr val="0F172A"/>
                </a:solidFill>
                <a:latin typeface="Arial"/>
              </a:rPr>
              <a:t>FastAPI 0.141.1 + Next.js 16 + Neo4j 5.26 + PyTorch — fully open-source, no proprietary hardware.</a:t>
            </a:r>
          </a:p>
        </p:txBody>
      </p:sp>
      <p:sp>
        <p:nvSpPr>
          <p:cNvPr id="69" name="CardBullet_0_1"/>
          <p:cNvSpPr txBox="1"/>
          <p:nvPr/>
        </p:nvSpPr>
        <p:spPr>
          <a:xfrm>
            <a:off x="347472" y="170764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Modular: </a:t>
            </a:r>
            <a:r>
              <a:rPr sz="950" b="0">
                <a:solidFill>
                  <a:srgbClr val="0F172A"/>
                </a:solidFill>
                <a:latin typeface="Arial"/>
              </a:rPr>
              <a:t>backend (FastAPI/Celery), graph DB (Neo4j + GDS 2.13), frontend (Next.js) deploy independently.</a:t>
            </a:r>
          </a:p>
        </p:txBody>
      </p:sp>
      <p:sp>
        <p:nvSpPr>
          <p:cNvPr id="70" name="CardBullet_0_2"/>
          <p:cNvSpPr txBox="1"/>
          <p:nvPr/>
        </p:nvSpPr>
        <p:spPr>
          <a:xfrm>
            <a:off x="347472" y="2025395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Market: </a:t>
            </a:r>
            <a:r>
              <a:rPr sz="950" b="0">
                <a:solidFill>
                  <a:srgbClr val="0F172A"/>
                </a:solidFill>
                <a:latin typeface="Arial"/>
              </a:rPr>
              <a:t>NTRO cyber-surveillance mandate + Interpol + FATF travel-rule; growing demand for BTC AML analytics.</a:t>
            </a:r>
          </a:p>
        </p:txBody>
      </p:sp>
      <p:sp>
        <p:nvSpPr>
          <p:cNvPr id="71" name="CardBullet_0_3"/>
          <p:cNvSpPr txBox="1"/>
          <p:nvPr/>
        </p:nvSpPr>
        <p:spPr>
          <a:xfrm>
            <a:off x="347472" y="234315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Economic: </a:t>
            </a:r>
            <a:r>
              <a:rPr sz="950" b="0">
                <a:solidFill>
                  <a:srgbClr val="0F172A"/>
                </a:solidFill>
                <a:latin typeface="Arial"/>
              </a:rPr>
              <a:t>commodity-CPU node vs $250K–$500K commercial suites — orders-of-magnitude cheaper.</a:t>
            </a:r>
          </a:p>
        </p:txBody>
      </p:sp>
      <p:sp>
        <p:nvSpPr>
          <p:cNvPr id="72" name="CardBody_1"/>
          <p:cNvSpPr/>
          <p:nvPr/>
        </p:nvSpPr>
        <p:spPr>
          <a:xfrm>
            <a:off x="6153912" y="1005840"/>
            <a:ext cx="5852160" cy="16916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CardTitleBar_1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ardTitleText_1"/>
          <p:cNvSpPr txBox="1"/>
          <p:nvPr/>
        </p:nvSpPr>
        <p:spPr>
          <a:xfrm>
            <a:off x="6656832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🛡️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Solutions</a:t>
            </a:r>
          </a:p>
        </p:txBody>
      </p:sp>
      <p:sp>
        <p:nvSpPr>
          <p:cNvPr id="75" name="CardBadgeBg_1"/>
          <p:cNvSpPr/>
          <p:nvPr/>
        </p:nvSpPr>
        <p:spPr>
          <a:xfrm>
            <a:off x="11603736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ardBadgeText_1"/>
          <p:cNvSpPr txBox="1"/>
          <p:nvPr/>
        </p:nvSpPr>
        <p:spPr>
          <a:xfrm>
            <a:off x="11603736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Arial"/>
              </a:rPr>
              <a:t>02</a:t>
            </a:r>
          </a:p>
        </p:txBody>
      </p:sp>
      <p:sp>
        <p:nvSpPr>
          <p:cNvPr id="77" name="CardBullet_1_0"/>
          <p:cNvSpPr txBox="1"/>
          <p:nvPr/>
        </p:nvSpPr>
        <p:spPr>
          <a:xfrm>
            <a:off x="6318504" y="1389888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Air-Gap: </a:t>
            </a:r>
            <a:r>
              <a:rPr sz="1000" b="0">
                <a:solidFill>
                  <a:srgbClr val="0F172A"/>
                </a:solidFill>
                <a:latin typeface="Arial"/>
              </a:rPr>
              <a:t>CPU-only ONNX-exportable models — no GPU, no internet, no cloud dependency.</a:t>
            </a:r>
          </a:p>
        </p:txBody>
      </p:sp>
      <p:sp>
        <p:nvSpPr>
          <p:cNvPr id="78" name="CardBullet_1_1"/>
          <p:cNvSpPr txBox="1"/>
          <p:nvPr/>
        </p:nvSpPr>
        <p:spPr>
          <a:xfrm>
            <a:off x="6318504" y="181356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Algorithm: </a:t>
            </a:r>
            <a:r>
              <a:rPr sz="1000" b="0">
                <a:solidFill>
                  <a:srgbClr val="0F172A"/>
                </a:solidFill>
                <a:latin typeface="Arial"/>
              </a:rPr>
              <a:t>Louvain community detection + CIOH heuristics + FT-Transformer — peer-reviewed graph analytics.</a:t>
            </a:r>
          </a:p>
        </p:txBody>
      </p:sp>
      <p:sp>
        <p:nvSpPr>
          <p:cNvPr id="79" name="CardBullet_1_2"/>
          <p:cNvSpPr txBox="1"/>
          <p:nvPr/>
        </p:nvSpPr>
        <p:spPr>
          <a:xfrm>
            <a:off x="6318504" y="223723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Training: </a:t>
            </a:r>
            <a:r>
              <a:rPr sz="1000" b="0">
                <a:solidFill>
                  <a:srgbClr val="0F172A"/>
                </a:solidFill>
                <a:latin typeface="Arial"/>
              </a:rPr>
              <a:t>class-weighted loss + SMOTE on 18 hand-crafted features — F1 0.6972 anomaly, F1 0.9209 risk.</a:t>
            </a:r>
          </a:p>
        </p:txBody>
      </p:sp>
      <p:sp>
        <p:nvSpPr>
          <p:cNvPr id="80" name="CardBody_2"/>
          <p:cNvSpPr/>
          <p:nvPr/>
        </p:nvSpPr>
        <p:spPr>
          <a:xfrm>
            <a:off x="182880" y="2788920"/>
            <a:ext cx="5852160" cy="16916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ardTitleBar_2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CardTitleText_2"/>
          <p:cNvSpPr txBox="1"/>
          <p:nvPr/>
        </p:nvSpPr>
        <p:spPr>
          <a:xfrm>
            <a:off x="685800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💰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Viability &amp; Business Potential</a:t>
            </a:r>
          </a:p>
        </p:txBody>
      </p:sp>
      <p:sp>
        <p:nvSpPr>
          <p:cNvPr id="83" name="CardBadgeBg_2"/>
          <p:cNvSpPr/>
          <p:nvPr/>
        </p:nvSpPr>
        <p:spPr>
          <a:xfrm>
            <a:off x="5632704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ardBadgeText_2"/>
          <p:cNvSpPr txBox="1"/>
          <p:nvPr/>
        </p:nvSpPr>
        <p:spPr>
          <a:xfrm>
            <a:off x="5632704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rial"/>
              </a:rPr>
              <a:t>03</a:t>
            </a:r>
          </a:p>
        </p:txBody>
      </p:sp>
      <p:sp>
        <p:nvSpPr>
          <p:cNvPr id="85" name="CardBullet_2_0"/>
          <p:cNvSpPr txBox="1"/>
          <p:nvPr/>
        </p:nvSpPr>
        <p:spPr>
          <a:xfrm>
            <a:off x="347472" y="3172968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Production Champion: </a:t>
            </a:r>
            <a:r>
              <a:rPr sz="950" b="0">
                <a:solidFill>
                  <a:srgbClr val="0F172A"/>
                </a:solidFill>
                <a:latin typeface="Arial"/>
              </a:rPr>
              <a:t>FT-Transformer F1 0.6972, AUC 0.9956, 0.0222 ms / inference.</a:t>
            </a:r>
          </a:p>
        </p:txBody>
      </p:sp>
      <p:sp>
        <p:nvSpPr>
          <p:cNvPr id="86" name="CardBullet_2_1"/>
          <p:cNvSpPr txBox="1"/>
          <p:nvPr/>
        </p:nvSpPr>
        <p:spPr>
          <a:xfrm>
            <a:off x="347472" y="349072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Cost Efficiency: </a:t>
            </a:r>
            <a:r>
              <a:rPr sz="950" b="0">
                <a:solidFill>
                  <a:srgbClr val="0F172A"/>
                </a:solidFill>
                <a:latin typeface="Arial"/>
              </a:rPr>
              <a:t>sub-$1K commodity CPU vs $250K–$500K commercial — extends budget 250×.</a:t>
            </a:r>
          </a:p>
        </p:txBody>
      </p:sp>
      <p:sp>
        <p:nvSpPr>
          <p:cNvPr id="87" name="CardBullet_2_2"/>
          <p:cNvSpPr txBox="1"/>
          <p:nvPr/>
        </p:nvSpPr>
        <p:spPr>
          <a:xfrm>
            <a:off x="347472" y="3808476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Compliance: </a:t>
            </a:r>
            <a:r>
              <a:rPr sz="950" b="0">
                <a:solidFill>
                  <a:srgbClr val="0F172A"/>
                </a:solidFill>
                <a:latin typeface="Arial"/>
              </a:rPr>
              <a:t>court-admissible JSON + PDF dossiers with tamper-evident SHA-256 chain.</a:t>
            </a:r>
          </a:p>
        </p:txBody>
      </p:sp>
      <p:sp>
        <p:nvSpPr>
          <p:cNvPr id="88" name="CardBullet_2_3"/>
          <p:cNvSpPr txBox="1"/>
          <p:nvPr/>
        </p:nvSpPr>
        <p:spPr>
          <a:xfrm>
            <a:off x="347472" y="412623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Resilience: </a:t>
            </a:r>
            <a:r>
              <a:rPr sz="950" b="0">
                <a:solidFill>
                  <a:srgbClr val="0F172A"/>
                </a:solidFill>
                <a:latin typeface="Arial"/>
              </a:rPr>
              <a:t>100% air-gapped — immune to network outages, DDoS, sovereign-cloud risk.</a:t>
            </a:r>
          </a:p>
        </p:txBody>
      </p:sp>
      <p:sp>
        <p:nvSpPr>
          <p:cNvPr id="89" name="CardBody_3"/>
          <p:cNvSpPr/>
          <p:nvPr/>
        </p:nvSpPr>
        <p:spPr>
          <a:xfrm>
            <a:off x="6153912" y="2788920"/>
            <a:ext cx="5852160" cy="169164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ardTitleBar_3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ardTitleText_3"/>
          <p:cNvSpPr txBox="1"/>
          <p:nvPr/>
        </p:nvSpPr>
        <p:spPr>
          <a:xfrm>
            <a:off x="6656832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👥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92" name="CardBadgeBg_3"/>
          <p:cNvSpPr/>
          <p:nvPr/>
        </p:nvSpPr>
        <p:spPr>
          <a:xfrm>
            <a:off x="11603736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ardBadgeText_3"/>
          <p:cNvSpPr txBox="1"/>
          <p:nvPr/>
        </p:nvSpPr>
        <p:spPr>
          <a:xfrm>
            <a:off x="11603736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Arial"/>
              </a:rPr>
              <a:t>04</a:t>
            </a:r>
          </a:p>
        </p:txBody>
      </p:sp>
      <p:sp>
        <p:nvSpPr>
          <p:cNvPr id="94" name="CardBullet_3_0"/>
          <p:cNvSpPr txBox="1"/>
          <p:nvPr/>
        </p:nvSpPr>
        <p:spPr>
          <a:xfrm>
            <a:off x="6318504" y="3172968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NTRO Cyber Analysts: </a:t>
            </a:r>
            <a:r>
              <a:rPr sz="1000" b="0">
                <a:solidFill>
                  <a:srgbClr val="0F172A"/>
                </a:solidFill>
                <a:latin typeface="Arial"/>
              </a:rPr>
              <a:t>4-tier severity master alert grid + D3 force-graph drilling on suspect wallets.</a:t>
            </a:r>
          </a:p>
        </p:txBody>
      </p:sp>
      <p:sp>
        <p:nvSpPr>
          <p:cNvPr id="95" name="CardBullet_3_1"/>
          <p:cNvSpPr txBox="1"/>
          <p:nvPr/>
        </p:nvSpPr>
        <p:spPr>
          <a:xfrm>
            <a:off x="6318504" y="359664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Forensic Investigators: </a:t>
            </a:r>
            <a:r>
              <a:rPr sz="1000" b="0">
                <a:solidFill>
                  <a:srgbClr val="0F172A"/>
                </a:solidFill>
                <a:latin typeface="Arial"/>
              </a:rPr>
              <a:t>SHAP waterfall + GNNExplainer subgraphs for traceable, defensible case files.</a:t>
            </a:r>
          </a:p>
        </p:txBody>
      </p:sp>
      <p:sp>
        <p:nvSpPr>
          <p:cNvPr id="96" name="CardBullet_3_2"/>
          <p:cNvSpPr txBox="1"/>
          <p:nvPr/>
        </p:nvSpPr>
        <p:spPr>
          <a:xfrm>
            <a:off x="6318504" y="402031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Field Officers / Liaison: </a:t>
            </a:r>
            <a:r>
              <a:rPr sz="1000" b="0">
                <a:solidFill>
                  <a:srgbClr val="0F172A"/>
                </a:solidFill>
                <a:latin typeface="Arial"/>
              </a:rPr>
              <a:t>1-click JSON / PDF dossier export for courtroom delivery and chain-of-custody.</a:t>
            </a:r>
          </a:p>
        </p:txBody>
      </p:sp>
      <p:sp>
        <p:nvSpPr>
          <p:cNvPr id="97" name="CardBody_4"/>
          <p:cNvSpPr/>
          <p:nvPr/>
        </p:nvSpPr>
        <p:spPr>
          <a:xfrm>
            <a:off x="182880" y="4572000"/>
            <a:ext cx="5852160" cy="16916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ardTitleBar_4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ardTitleText_4"/>
          <p:cNvSpPr txBox="1"/>
          <p:nvPr/>
        </p:nvSpPr>
        <p:spPr>
          <a:xfrm>
            <a:off x="685800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🚧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Challenges</a:t>
            </a:r>
          </a:p>
        </p:txBody>
      </p:sp>
      <p:sp>
        <p:nvSpPr>
          <p:cNvPr id="100" name="CardBadgeBg_4"/>
          <p:cNvSpPr/>
          <p:nvPr/>
        </p:nvSpPr>
        <p:spPr>
          <a:xfrm>
            <a:off x="5632704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BadgeText_4"/>
          <p:cNvSpPr txBox="1"/>
          <p:nvPr/>
        </p:nvSpPr>
        <p:spPr>
          <a:xfrm>
            <a:off x="5632704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rial"/>
              </a:rPr>
              <a:t>05</a:t>
            </a:r>
          </a:p>
        </p:txBody>
      </p:sp>
      <p:sp>
        <p:nvSpPr>
          <p:cNvPr id="102" name="CardBullet_4_0"/>
          <p:cNvSpPr txBox="1"/>
          <p:nvPr/>
        </p:nvSpPr>
        <p:spPr>
          <a:xfrm>
            <a:off x="347472" y="4956048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Synthetic Stream Today: </a:t>
            </a:r>
            <a:r>
              <a:rPr sz="1000" b="0">
                <a:solidFill>
                  <a:srgbClr val="0F172A"/>
                </a:solidFill>
                <a:latin typeface="Arial"/>
              </a:rPr>
              <a:t>demo runs on anonymized ledger traces; live NTRO transaction feed pilot pending.</a:t>
            </a:r>
          </a:p>
        </p:txBody>
      </p:sp>
      <p:sp>
        <p:nvSpPr>
          <p:cNvPr id="103" name="CardBullet_4_1"/>
          <p:cNvSpPr txBox="1"/>
          <p:nvPr/>
        </p:nvSpPr>
        <p:spPr>
          <a:xfrm>
            <a:off x="347472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Edge Hardware: </a:t>
            </a:r>
            <a:r>
              <a:rPr sz="1000" b="0">
                <a:solidFill>
                  <a:srgbClr val="0F172A"/>
                </a:solidFill>
                <a:latin typeface="Arial"/>
              </a:rPr>
              <a:t>ONNX scripts ready; ruggedised Pi-class node procurement + field hardening in progress.</a:t>
            </a:r>
          </a:p>
        </p:txBody>
      </p:sp>
      <p:sp>
        <p:nvSpPr>
          <p:cNvPr id="104" name="CardBullet_4_2"/>
          <p:cNvSpPr txBox="1"/>
          <p:nvPr/>
        </p:nvSpPr>
        <p:spPr>
          <a:xfrm>
            <a:off x="347472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Multi-Tenant Scale: </a:t>
            </a:r>
            <a:r>
              <a:rPr sz="1000" b="0">
                <a:solidFill>
                  <a:srgbClr val="0F172A"/>
                </a:solidFill>
                <a:latin typeface="Arial"/>
              </a:rPr>
              <a:t>multi-NTRO-unit isolation + Celery pool tuning at &gt;100k tx/sec not yet benchmarked.</a:t>
            </a:r>
          </a:p>
        </p:txBody>
      </p:sp>
      <p:sp>
        <p:nvSpPr>
          <p:cNvPr id="105" name="CardBody_5"/>
          <p:cNvSpPr/>
          <p:nvPr/>
        </p:nvSpPr>
        <p:spPr>
          <a:xfrm>
            <a:off x="6153912" y="4572000"/>
            <a:ext cx="5852160" cy="1691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75569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ardTitleBar_5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CardTitleText_5"/>
          <p:cNvSpPr txBox="1"/>
          <p:nvPr/>
        </p:nvSpPr>
        <p:spPr>
          <a:xfrm>
            <a:off x="6656832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⭐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Supporting Facts</a:t>
            </a:r>
          </a:p>
        </p:txBody>
      </p:sp>
      <p:sp>
        <p:nvSpPr>
          <p:cNvPr id="108" name="CardBadgeBg_5"/>
          <p:cNvSpPr/>
          <p:nvPr/>
        </p:nvSpPr>
        <p:spPr>
          <a:xfrm>
            <a:off x="11603736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ardBadgeText_5"/>
          <p:cNvSpPr txBox="1"/>
          <p:nvPr/>
        </p:nvSpPr>
        <p:spPr>
          <a:xfrm>
            <a:off x="11603736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06</a:t>
            </a:r>
          </a:p>
        </p:txBody>
      </p:sp>
      <p:sp>
        <p:nvSpPr>
          <p:cNvPr id="110" name="CardBullet_5_0"/>
          <p:cNvSpPr txBox="1"/>
          <p:nvPr/>
        </p:nvSpPr>
        <p:spPr>
          <a:xfrm>
            <a:off x="6318504" y="4956048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11,938 tx/sec sustained PostgreSQL binary-COPY ingest.</a:t>
            </a:r>
          </a:p>
        </p:txBody>
      </p:sp>
      <p:sp>
        <p:nvSpPr>
          <p:cNvPr id="111" name="CardBullet_5_1"/>
          <p:cNvSpPr txBox="1"/>
          <p:nvPr/>
        </p:nvSpPr>
        <p:spPr>
          <a:xfrm>
            <a:off x="6318504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24,673 wallets / 9,794 Louvain clusters / 45,516 edges scored.</a:t>
            </a:r>
          </a:p>
        </p:txBody>
      </p:sp>
      <p:sp>
        <p:nvSpPr>
          <p:cNvPr id="112" name="CardBullet_5_2"/>
          <p:cNvSpPr txBox="1"/>
          <p:nvPr/>
        </p:nvSpPr>
        <p:spPr>
          <a:xfrm>
            <a:off x="6318504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Graph Transformer AUC 0.9956; 0 / 197 missed high-risk wallets on Ransomwhere seed set.</a:t>
            </a:r>
          </a:p>
        </p:txBody>
      </p:sp>
      <p:sp>
        <p:nvSpPr>
          <p:cNvPr id="114" name="CardBgDot_1"/>
          <p:cNvSpPr/>
          <p:nvPr/>
        </p:nvSpPr>
        <p:spPr>
          <a:xfrm>
            <a:off x="91440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CardBgDot_2"/>
          <p:cNvSpPr/>
          <p:nvPr/>
        </p:nvSpPr>
        <p:spPr>
          <a:xfrm>
            <a:off x="12051792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CardBgDot_3"/>
          <p:cNvSpPr/>
          <p:nvPr/>
        </p:nvSpPr>
        <p:spPr>
          <a:xfrm>
            <a:off x="91440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CardBgDot_4"/>
          <p:cNvSpPr/>
          <p:nvPr/>
        </p:nvSpPr>
        <p:spPr>
          <a:xfrm>
            <a:off x="12051792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CardBgDot_5"/>
          <p:cNvSpPr/>
          <p:nvPr/>
        </p:nvSpPr>
        <p:spPr>
          <a:xfrm>
            <a:off x="91440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CardBgDot_6"/>
          <p:cNvSpPr/>
          <p:nvPr/>
        </p:nvSpPr>
        <p:spPr>
          <a:xfrm>
            <a:off x="12051792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CardBgDot_7"/>
          <p:cNvSpPr/>
          <p:nvPr/>
        </p:nvSpPr>
        <p:spPr>
          <a:xfrm>
            <a:off x="91440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CardBgDot_8"/>
          <p:cNvSpPr/>
          <p:nvPr/>
        </p:nvSpPr>
        <p:spPr>
          <a:xfrm>
            <a:off x="12051792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CardBgDot_9"/>
          <p:cNvSpPr/>
          <p:nvPr/>
        </p:nvSpPr>
        <p:spPr>
          <a:xfrm>
            <a:off x="91440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CardBgDot_10"/>
          <p:cNvSpPr/>
          <p:nvPr/>
        </p:nvSpPr>
        <p:spPr>
          <a:xfrm>
            <a:off x="12051792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CardBgDot_11"/>
          <p:cNvSpPr/>
          <p:nvPr/>
        </p:nvSpPr>
        <p:spPr>
          <a:xfrm>
            <a:off x="91440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CardBgDot_12"/>
          <p:cNvSpPr/>
          <p:nvPr/>
        </p:nvSpPr>
        <p:spPr>
          <a:xfrm>
            <a:off x="12051792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CardLeftEdgeStripe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CardRightEdgeStripe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CardTitleAccentRule"/>
          <p:cNvSpPr/>
          <p:nvPr/>
        </p:nvSpPr>
        <p:spPr>
          <a:xfrm>
            <a:off x="3076041" y="950976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ardTitleAccentRule"/>
          <p:cNvSpPr/>
          <p:nvPr/>
        </p:nvSpPr>
        <p:spPr>
          <a:xfrm>
            <a:off x="3076041" y="950976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CardFooterDiamond"/>
          <p:cNvSpPr/>
          <p:nvPr/>
        </p:nvSpPr>
        <p:spPr>
          <a:xfrm>
            <a:off x="274320" y="6516014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CardFooterLabel"/>
          <p:cNvSpPr txBox="1"/>
          <p:nvPr/>
        </p:nvSpPr>
        <p:spPr>
          <a:xfrm>
            <a:off x="548640" y="6355994"/>
            <a:ext cx="384048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Feasibility &amp; Viability   SIH26146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1003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004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05" name="Text 4"/>
          <p:cNvSpPr/>
          <p:nvPr/>
        </p:nvSpPr>
        <p:spPr>
          <a:xfrm>
            <a:off x="3039540" y="506852"/>
            <a:ext cx="86868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pic>
        <p:nvPicPr>
          <p:cNvPr id="100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07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09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010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011" name="TextBox 1010"/>
          <p:cNvSpPr txBox="1"/>
          <p:nvPr/>
        </p:nvSpPr>
        <p:spPr>
          <a:xfrm>
            <a:off x="365760" y="114300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INDUSTRY PLATFORMS</a:t>
            </a:r>
          </a:p>
        </p:txBody>
      </p:sp>
      <p:cxnSp>
        <p:nvCxnSpPr>
          <p:cNvPr id="1012" name="Connector 1011"/>
          <p:cNvCxnSpPr/>
          <p:nvPr/>
        </p:nvCxnSpPr>
        <p:spPr>
          <a:xfrm>
            <a:off x="365760" y="141732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3" name="Oval 1012"/>
          <p:cNvSpPr/>
          <p:nvPr/>
        </p:nvSpPr>
        <p:spPr>
          <a:xfrm>
            <a:off x="365760" y="16002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566928" y="1527048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Chainalysis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crypto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chainalysis.com</a:t>
            </a:r>
          </a:p>
        </p:txBody>
      </p:sp>
      <p:sp>
        <p:nvSpPr>
          <p:cNvPr id="1015" name="Oval 1014"/>
          <p:cNvSpPr/>
          <p:nvPr/>
        </p:nvSpPr>
        <p:spPr>
          <a:xfrm>
            <a:off x="365760" y="18653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566928" y="1792224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Elliptic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AML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elliptic.co</a:t>
            </a:r>
          </a:p>
        </p:txBody>
      </p:sp>
      <p:sp>
        <p:nvSpPr>
          <p:cNvPr id="1017" name="Oval 1016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66928" y="20574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TRM Labs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intelligence for AML and fraud - </a:t>
            </a:r>
            <a:r>
              <a:rPr sz="1200">
                <a:solidFill>
                  <a:srgbClr val="475569"/>
                </a:solidFill>
                <a:latin typeface="Arial"/>
              </a:rPr>
              <a:t>trmlabs.com</a:t>
            </a:r>
          </a:p>
        </p:txBody>
      </p:sp>
      <p:sp>
        <p:nvSpPr>
          <p:cNvPr id="1019" name="Oval 1018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566928" y="2322576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Crystal Intelligence - </a:t>
            </a:r>
            <a:r>
              <a:rPr sz="1200">
                <a:solidFill>
                  <a:srgbClr val="334155"/>
                </a:solidFill>
                <a:latin typeface="Arial"/>
              </a:rPr>
              <a:t>Digital asset risk intelligence - </a:t>
            </a:r>
            <a:r>
              <a:rPr sz="1200">
                <a:solidFill>
                  <a:srgbClr val="475569"/>
                </a:solidFill>
                <a:latin typeface="Arial"/>
              </a:rPr>
              <a:t>crystalintelligence.com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365760" y="269748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RESEARCH AND BEST PRACTICES</a:t>
            </a:r>
          </a:p>
        </p:txBody>
      </p:sp>
      <p:cxnSp>
        <p:nvCxnSpPr>
          <p:cNvPr id="1022" name="Connector 1021"/>
          <p:cNvCxnSpPr/>
          <p:nvPr/>
        </p:nvCxnSpPr>
        <p:spPr>
          <a:xfrm>
            <a:off x="365760" y="297180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3" name="Oval 1022"/>
          <p:cNvSpPr/>
          <p:nvPr/>
        </p:nvSpPr>
        <p:spPr>
          <a:xfrm>
            <a:off x="365760" y="3154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66928" y="3081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Weber et al., KDD 2019 - </a:t>
            </a:r>
            <a:r>
              <a:rPr sz="1200">
                <a:solidFill>
                  <a:srgbClr val="334155"/>
                </a:solidFill>
                <a:latin typeface="Arial"/>
              </a:rPr>
              <a:t>Anti-Money Laundering in Bitcoin: Experimenting with Graph Convolutional Networks for Financial Forensics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arxiv.org/abs/1908.02591</a:t>
            </a:r>
          </a:p>
        </p:txBody>
      </p:sp>
      <p:sp>
        <p:nvSpPr>
          <p:cNvPr id="1025" name="Oval 1024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TextBox 1025"/>
          <p:cNvSpPr txBox="1"/>
          <p:nvPr/>
        </p:nvSpPr>
        <p:spPr>
          <a:xfrm>
            <a:off x="566928" y="3529584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Kappos et al., arXiv 2022 - </a:t>
            </a:r>
            <a:r>
              <a:rPr sz="1200">
                <a:solidFill>
                  <a:srgbClr val="334155"/>
                </a:solidFill>
                <a:latin typeface="Arial"/>
              </a:rPr>
              <a:t>How to Peel a Million: Validating and Expanding Bitcoin Clusters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arxiv.org/abs/2205.13882</a:t>
            </a:r>
          </a:p>
        </p:txBody>
      </p:sp>
      <p:sp>
        <p:nvSpPr>
          <p:cNvPr id="1027" name="Oval 1026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566928" y="3977640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Schnoering and Vazirgiannis, arXiv 2023 - </a:t>
            </a:r>
            <a:r>
              <a:rPr sz="1200">
                <a:solidFill>
                  <a:srgbClr val="334155"/>
                </a:solidFill>
                <a:latin typeface="Arial"/>
              </a:rPr>
              <a:t>Heuristics for Detecting CoinJoin Transactions on the Bitcoin Blockchain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arxiv.org/abs/2311.12491</a:t>
            </a:r>
          </a:p>
        </p:txBody>
      </p:sp>
      <p:sp>
        <p:nvSpPr>
          <p:cNvPr id="1029" name="Oval 1028"/>
          <p:cNvSpPr/>
          <p:nvPr/>
        </p:nvSpPr>
        <p:spPr>
          <a:xfrm>
            <a:off x="365760" y="44988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66928" y="4425696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FATF 2015/2018/2021 - </a:t>
            </a:r>
            <a:r>
              <a:rPr sz="1200">
                <a:solidFill>
                  <a:srgbClr val="334155"/>
                </a:solidFill>
                <a:latin typeface="Arial"/>
              </a:rPr>
              <a:t>Guidance for a Risk-Based Approach: Virtual Assets and VASPs - </a:t>
            </a:r>
            <a:r>
              <a:rPr sz="1200">
                <a:solidFill>
                  <a:srgbClr val="475569"/>
                </a:solidFill>
                <a:latin typeface="Arial"/>
              </a:rPr>
              <a:t>fatf-gafi.org/en/publications.html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365760" y="4983480"/>
            <a:ext cx="5943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spc="200">
                <a:solidFill>
                  <a:srgbClr val="1F3864"/>
                </a:solidFill>
                <a:latin typeface="Arial"/>
              </a:rPr>
              <a:t>FEASIBILITY FACTS</a:t>
            </a:r>
          </a:p>
        </p:txBody>
      </p:sp>
      <p:cxnSp>
        <p:nvCxnSpPr>
          <p:cNvPr id="1032" name="Connector 1031"/>
          <p:cNvCxnSpPr/>
          <p:nvPr/>
        </p:nvCxnSpPr>
        <p:spPr>
          <a:xfrm>
            <a:off x="365760" y="5257800"/>
            <a:ext cx="594360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Oval 1032"/>
          <p:cNvSpPr/>
          <p:nvPr/>
        </p:nvSpPr>
        <p:spPr>
          <a:xfrm>
            <a:off x="365760" y="5440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566928" y="5367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Europol IOCTA - </a:t>
            </a:r>
            <a:r>
              <a:rPr sz="1200">
                <a:solidFill>
                  <a:srgbClr val="334155"/>
                </a:solidFill>
                <a:latin typeface="Arial"/>
              </a:rPr>
              <a:t>Annual strategic report covering cryptocurrencies as a cybercrime enabler - </a:t>
            </a:r>
            <a:r>
              <a:rPr sz="1200">
                <a:solidFill>
                  <a:srgbClr val="475569"/>
                </a:solidFill>
                <a:latin typeface="Arial"/>
              </a:rPr>
              <a:t>europol.europa.eu/publications-events/main-reports/iocta-report</a:t>
            </a:r>
          </a:p>
        </p:txBody>
      </p:sp>
      <p:graphicFrame>
        <p:nvGraphicFramePr>
          <p:cNvPr id="1035" name="Table 10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67201"/>
              </p:ext>
            </p:extLst>
          </p:nvPr>
        </p:nvGraphicFramePr>
        <p:xfrm>
          <a:off x="6583680" y="1143000"/>
          <a:ext cx="5349240" cy="482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10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SIH26146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Systems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Real-time Wallet Risk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Peeling-Chain Detection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CoinJoin / Mixing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97706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Air-Gapped CPU-Only Inference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Court-Admissible Forensic Dossier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978</Words>
  <Application>Microsoft Office PowerPoint</Application>
  <PresentationFormat>Widescreen</PresentationFormat>
  <Paragraphs>109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8</cp:revision>
  <dcterms:created xsi:type="dcterms:W3CDTF">2026-09-23T19:08:33Z</dcterms:created>
  <dcterms:modified xsi:type="dcterms:W3CDTF">2026-09-26T10:03:54Z</dcterms:modified>
</cp:coreProperties>
</file>