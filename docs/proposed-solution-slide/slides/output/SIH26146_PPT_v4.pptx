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8815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9784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3400" dirty="0"/>
          </a:p>
        </p:txBody>
      </p:sp>
      <p:pic>
        <p:nvPicPr>
          <p:cNvPr id="6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82880"/>
            <a:ext cx="1417320" cy="777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1325880"/>
            <a:ext cx="12191695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10505" y="1645920"/>
            <a:ext cx="1371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1755648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u="sng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0" y="2542032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3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 |  Smart India Hackathon 2026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017520"/>
            <a:ext cx="914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320954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01752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26146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529584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3529584"/>
            <a:ext cx="914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372160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529584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Monitoring &amp; Analysis of Bitcoin Transaction Traffic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041648"/>
            <a:ext cx="914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423367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041648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Cybersecurity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4553712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4553712"/>
            <a:ext cx="914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47457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45537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5065776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5065776"/>
            <a:ext cx="914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525780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5065776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ID:  </a:t>
            </a:r>
            <a:pPr algn="l" indent="0" marL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200" y="557784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" y="5577840"/>
            <a:ext cx="914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85800" y="5769864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8680" y="55778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80960" y="3017520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63840" y="3200400"/>
            <a:ext cx="3749040" cy="2514600"/>
          </a:xfrm>
          <a:prstGeom prst="roundRect">
            <a:avLst>
              <a:gd name="adj" fmla="val 2182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81160" y="379476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0" dirty="0"/>
          </a:p>
        </p:txBody>
      </p:sp>
      <p:sp>
        <p:nvSpPr>
          <p:cNvPr id="38" name="Shape 35"/>
          <p:cNvSpPr/>
          <p:nvPr/>
        </p:nvSpPr>
        <p:spPr>
          <a:xfrm>
            <a:off x="9564624" y="325526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396112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396112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517550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733136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733136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0" y="5760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 |  AML  |  NTRO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506852"/>
            <a:ext cx="45720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pic>
        <p:nvPicPr>
          <p:cNvPr id="7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 ·  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" y="2194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 ·  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4592" y="31089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 ·  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592" y="4114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 ·  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4592" y="5120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 ·  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1074" y="828172"/>
            <a:ext cx="6980895" cy="530571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8" name="Image 1" descr="C:\Users\bari2\Desktop\SIH26146\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362" y="846460"/>
            <a:ext cx="6944319" cy="52691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11680" y="506852"/>
            <a:ext cx="82296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9" name="Image 1" descr="C:\Users\bari2\Desktop\SIH26146\docs\proposed-solution-slide\assets\technical-approa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6" y="1097280"/>
            <a:ext cx="1067196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9" name="Image 0" descr="C:\Users\bari2\Desktop\SIH26146\docs\proposed-solution-slide\assets\slide02_01_Pictur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783080" y="658368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506852"/>
            <a:ext cx="82296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82880" y="100584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2880" y="1005840"/>
            <a:ext cx="58521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" y="1463040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Technical: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0.141.1 + Next.js 16 + Neo4j 5.26 + PyTorch — fully open-source, no proprietary hardware.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" y="1753362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Modular: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(FastAPI/Celery), graph DB (Neo4j + GDS 2.13), frontend (Next.js) deploy independently.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" y="2043684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Market: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NTRO cyber-surveillance mandate + Interpol + FATF travel-rule; growing demand for BTC AML analytics.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" y="233400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Economic: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commodity-CPU node vs $250K–$500K commercial suites — orders-of-magnitude cheaper.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53912" y="100584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53912" y="1005840"/>
            <a:ext cx="58521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18504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18504" y="146304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Air-Gap: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ONNX-exportable models — no GPU, no internet, no cloud dependency.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18504" y="185013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Algorithm: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 + CIOH heuristics + FT-Transformer — peer-reviewed graph analytics.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18504" y="223723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Training: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loss + SMOTE on 18 hand-crafted features — F1 0.6972 anomaly, F1 0.9209 risk.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2788920"/>
            <a:ext cx="58521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&amp; Business Potential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47472" y="3246120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Production Champion: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FT-Transformer F1 0.6972, AUC 0.9956, 0.0222 ms / inference.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47472" y="3536442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Cost Efficiency: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sub-$1K commodity CPU vs $250K–$500K commercial — extends budget 250×.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7472" y="3826764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Compliance: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court-admissible JSON + PDF dossiers with tamper-evident SHA-256 chain.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47472" y="411708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Resilience: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air-gapped — immune to network outages, DDoS, sovereign-cloud risk.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53912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53912" y="2788920"/>
            <a:ext cx="58521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18504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18504" y="324612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NTRO Cyber Analysts: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severity master alert grid + D3 force-graph drilling on suspect wallets.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318504" y="363321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Forensic Investigators: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+ GNNExplainer subgraphs for traceable, defensible case files.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18504" y="402031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Field Officers / Liaison: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JSON / PDF dossier export for courtroom delivery and chain-of-custody.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82880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82880" y="4572000"/>
            <a:ext cx="58521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7472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47472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Synthetic Stream Today: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runs on anonymized ledger traces; live NTRO transaction feed pilot pending.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47472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Edge Hardware: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scripts ready; ruggedised Pi-class node procurement + field hardening in progress.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47472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Multi-Tenant Scale: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multi-NTRO-unit isolation + Celery pool tuning at &gt;100k tx/sec not yet benchmarked.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153912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53912" y="4572000"/>
            <a:ext cx="585216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18504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Facts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18504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11,938 tx/sec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PostgreSQL binary-COPY ingest.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318504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24,673 wallets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9,794 Louvain clusters / 45,516 edges scored.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318504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Graph Transformer </a:t>
            </a:r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0.9956; 0 / 197 missed high-risk wallets on Ransomwhere seed set.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2026-09-24T18:48:37Z</dcterms:created>
  <dcterms:modified xsi:type="dcterms:W3CDTF">2026-09-24T18:48:37Z</dcterms:modified>
</cp:coreProperties>
</file>