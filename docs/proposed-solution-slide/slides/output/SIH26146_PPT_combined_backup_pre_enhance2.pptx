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nhance_HeroTopStripe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1325880"/>
            <a:ext cx="1219169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Enhance_SubtitlePill"/>
          <p:cNvSpPr/>
          <p:nvPr/>
        </p:nvSpPr>
        <p:spPr>
          <a:xfrm>
            <a:off x="3840480" y="2542032"/>
            <a:ext cx="4507992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7"/>
          <p:cNvSpPr/>
          <p:nvPr/>
        </p:nvSpPr>
        <p:spPr>
          <a:xfrm>
            <a:off x="0" y="2542032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 |  Smart India Hackathon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320954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Enhance_CardInnerStripe_1"/>
          <p:cNvSpPr/>
          <p:nvPr/>
        </p:nvSpPr>
        <p:spPr>
          <a:xfrm>
            <a:off x="621792" y="301752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nhance_CardMarkerOuter_1"/>
          <p:cNvSpPr/>
          <p:nvPr/>
        </p:nvSpPr>
        <p:spPr>
          <a:xfrm>
            <a:off x="731520" y="3182112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nhance_CardMarkerCenter_1"/>
          <p:cNvSpPr/>
          <p:nvPr/>
        </p:nvSpPr>
        <p:spPr>
          <a:xfrm>
            <a:off x="763524" y="321411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nhance_CardIcon_1"/>
          <p:cNvSpPr/>
          <p:nvPr/>
        </p:nvSpPr>
        <p:spPr>
          <a:xfrm>
            <a:off x="6720840" y="3136391"/>
            <a:ext cx="219456" cy="219456"/>
          </a:xfrm>
          <a:prstGeom prst="ellips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017520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26146</a:t>
            </a:r>
            <a:endParaRPr lang="en-US" sz="1200" dirty="0"/>
          </a:p>
        </p:txBody>
      </p:sp>
      <p:sp>
        <p:nvSpPr>
          <p:cNvPr id="65" name="Enhance_CardInnerStripe_2"/>
          <p:cNvSpPr/>
          <p:nvPr/>
        </p:nvSpPr>
        <p:spPr>
          <a:xfrm>
            <a:off x="621792" y="3529584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nhance_CardMarkerOuter_2"/>
          <p:cNvSpPr/>
          <p:nvPr/>
        </p:nvSpPr>
        <p:spPr>
          <a:xfrm>
            <a:off x="731520" y="3694176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nhance_CardMarkerCenter_2"/>
          <p:cNvSpPr/>
          <p:nvPr/>
        </p:nvSpPr>
        <p:spPr>
          <a:xfrm>
            <a:off x="763524" y="372618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nhance_CardIcon_2"/>
          <p:cNvSpPr/>
          <p:nvPr/>
        </p:nvSpPr>
        <p:spPr>
          <a:xfrm>
            <a:off x="6720840" y="3648456"/>
            <a:ext cx="219456" cy="219456"/>
          </a:xfrm>
          <a:prstGeom prst="rect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721608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529584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Monitoring &amp; Analysis of Bitcoin Transaction Traffic</a:t>
            </a:r>
            <a:endParaRPr lang="en-US" sz="1200" dirty="0"/>
          </a:p>
        </p:txBody>
      </p:sp>
      <p:sp>
        <p:nvSpPr>
          <p:cNvPr id="69" name="Enhance_CardInnerStripe_3"/>
          <p:cNvSpPr/>
          <p:nvPr/>
        </p:nvSpPr>
        <p:spPr>
          <a:xfrm>
            <a:off x="621792" y="4041648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nhance_CardMarkerOuter_3"/>
          <p:cNvSpPr/>
          <p:nvPr/>
        </p:nvSpPr>
        <p:spPr>
          <a:xfrm>
            <a:off x="731520" y="4206240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nhance_CardMarkerCenter_3"/>
          <p:cNvSpPr/>
          <p:nvPr/>
        </p:nvSpPr>
        <p:spPr>
          <a:xfrm>
            <a:off x="763524" y="42382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nhance_CardIcon_3"/>
          <p:cNvSpPr/>
          <p:nvPr/>
        </p:nvSpPr>
        <p:spPr>
          <a:xfrm>
            <a:off x="6720840" y="4160520"/>
            <a:ext cx="219456" cy="219456"/>
          </a:xfrm>
          <a:prstGeom prst="chevr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041648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4041648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200" dirty="0"/>
          </a:p>
        </p:txBody>
      </p:sp>
      <p:sp>
        <p:nvSpPr>
          <p:cNvPr id="73" name="Enhance_CardInnerStripe_4"/>
          <p:cNvSpPr/>
          <p:nvPr/>
        </p:nvSpPr>
        <p:spPr>
          <a:xfrm>
            <a:off x="621792" y="4553712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nhance_CardMarkerOuter_4"/>
          <p:cNvSpPr/>
          <p:nvPr/>
        </p:nvSpPr>
        <p:spPr>
          <a:xfrm>
            <a:off x="731520" y="4718304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nhance_CardMarkerCenter_4"/>
          <p:cNvSpPr/>
          <p:nvPr/>
        </p:nvSpPr>
        <p:spPr>
          <a:xfrm>
            <a:off x="763524" y="475030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nhance_CardIcon_4"/>
          <p:cNvSpPr/>
          <p:nvPr/>
        </p:nvSpPr>
        <p:spPr>
          <a:xfrm>
            <a:off x="6720840" y="4672584"/>
            <a:ext cx="219456" cy="219456"/>
          </a:xfrm>
          <a:prstGeom prst="diamond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553712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5800" y="4745736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4553712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Category: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77" name="Enhance_CardInnerStripe_5"/>
          <p:cNvSpPr/>
          <p:nvPr/>
        </p:nvSpPr>
        <p:spPr>
          <a:xfrm>
            <a:off x="621792" y="5065776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nhance_CardMarkerOuter_5"/>
          <p:cNvSpPr/>
          <p:nvPr/>
        </p:nvSpPr>
        <p:spPr>
          <a:xfrm>
            <a:off x="731520" y="5230368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nhance_CardMarkerCenter_5"/>
          <p:cNvSpPr/>
          <p:nvPr/>
        </p:nvSpPr>
        <p:spPr>
          <a:xfrm>
            <a:off x="763524" y="526237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nhance_CardIcon_5"/>
          <p:cNvSpPr/>
          <p:nvPr/>
        </p:nvSpPr>
        <p:spPr>
          <a:xfrm>
            <a:off x="6720840" y="5184648"/>
            <a:ext cx="219456" cy="219456"/>
          </a:xfrm>
          <a:prstGeom prst="triangl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 24"/>
          <p:cNvSpPr/>
          <p:nvPr/>
        </p:nvSpPr>
        <p:spPr>
          <a:xfrm>
            <a:off x="457200" y="5065776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5065776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5800" y="5257800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5065776"/>
            <a:ext cx="6355080" cy="45720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 </a:t>
            </a:r>
            <a:endParaRPr lang="en-US" sz="1200" dirty="0"/>
          </a:p>
        </p:txBody>
      </p:sp>
      <p:sp>
        <p:nvSpPr>
          <p:cNvPr id="81" name="Enhance_CardInnerStripe_6"/>
          <p:cNvSpPr/>
          <p:nvPr/>
        </p:nvSpPr>
        <p:spPr>
          <a:xfrm>
            <a:off x="621792" y="557784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nhance_CardMarkerOuter_6"/>
          <p:cNvSpPr/>
          <p:nvPr/>
        </p:nvSpPr>
        <p:spPr>
          <a:xfrm>
            <a:off x="731520" y="5742431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nhance_CardMarkerCenter_6"/>
          <p:cNvSpPr/>
          <p:nvPr/>
        </p:nvSpPr>
        <p:spPr>
          <a:xfrm>
            <a:off x="763524" y="57744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nhance_CardIcon_6"/>
          <p:cNvSpPr/>
          <p:nvPr/>
        </p:nvSpPr>
        <p:spPr>
          <a:xfrm>
            <a:off x="6720840" y="5696712"/>
            <a:ext cx="219456" cy="219456"/>
          </a:xfrm>
          <a:prstGeom prst="hexag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557784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" y="576986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80960" y="3017520"/>
            <a:ext cx="4114800" cy="3017520"/>
          </a:xfrm>
          <a:prstGeom prst="roundRect">
            <a:avLst>
              <a:gd name="adj" fmla="val 2424"/>
            </a:avLst>
          </a:prstGeom>
          <a:noFill/>
          <a:ln w="12700">
            <a:noFill/>
            <a:prstDash val="solid"/>
          </a:ln>
          <a:effectLst>
            <a:outerShdw blurRad="152400" dist="25400" dir="5400000" algn="ctr" rotWithShape="0">
              <a:srgbClr val="000000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Enhance_HexDotPattern_1"/>
          <p:cNvSpPr/>
          <p:nvPr/>
        </p:nvSpPr>
        <p:spPr>
          <a:xfrm>
            <a:off x="82296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nhance_HexDotPattern_2"/>
          <p:cNvSpPr/>
          <p:nvPr/>
        </p:nvSpPr>
        <p:spPr>
          <a:xfrm>
            <a:off x="86868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nhance_HexDotPattern_3"/>
          <p:cNvSpPr/>
          <p:nvPr/>
        </p:nvSpPr>
        <p:spPr>
          <a:xfrm>
            <a:off x="9144000" y="34747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nhance_HexDotPattern_4"/>
          <p:cNvSpPr/>
          <p:nvPr/>
        </p:nvSpPr>
        <p:spPr>
          <a:xfrm>
            <a:off x="9601200" y="384048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nhance_HexDotPattern_5"/>
          <p:cNvSpPr/>
          <p:nvPr/>
        </p:nvSpPr>
        <p:spPr>
          <a:xfrm>
            <a:off x="100584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nhance_HexDotPattern_6"/>
          <p:cNvSpPr/>
          <p:nvPr/>
        </p:nvSpPr>
        <p:spPr>
          <a:xfrm>
            <a:off x="105156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nhance_HexDotPattern_7"/>
          <p:cNvSpPr/>
          <p:nvPr/>
        </p:nvSpPr>
        <p:spPr>
          <a:xfrm>
            <a:off x="109728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nhance_HexDotPattern_8"/>
          <p:cNvSpPr/>
          <p:nvPr/>
        </p:nvSpPr>
        <p:spPr>
          <a:xfrm>
            <a:off x="11247120" y="39319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nhance_HexDotPattern_9"/>
          <p:cNvSpPr/>
          <p:nvPr/>
        </p:nvSpPr>
        <p:spPr>
          <a:xfrm>
            <a:off x="8412480" y="53492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nhance_HexDotPattern_10"/>
          <p:cNvSpPr/>
          <p:nvPr/>
        </p:nvSpPr>
        <p:spPr>
          <a:xfrm>
            <a:off x="8869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nhance_HexDotPattern_11"/>
          <p:cNvSpPr/>
          <p:nvPr/>
        </p:nvSpPr>
        <p:spPr>
          <a:xfrm>
            <a:off x="10789920" y="539496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nhance_HexDotPattern_12"/>
          <p:cNvSpPr/>
          <p:nvPr/>
        </p:nvSpPr>
        <p:spPr>
          <a:xfrm>
            <a:off x="11155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hape 33"/>
          <p:cNvSpPr/>
          <p:nvPr/>
        </p:nvSpPr>
        <p:spPr>
          <a:xfrm>
            <a:off x="7863840" y="320040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0" y="3611879"/>
            <a:ext cx="1188720" cy="155448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0" dirty="0"/>
          </a:p>
        </p:txBody>
      </p:sp>
      <p:sp>
        <p:nvSpPr>
          <p:cNvPr id="39" name="Shape 36"/>
          <p:cNvSpPr/>
          <p:nvPr/>
        </p:nvSpPr>
        <p:spPr>
          <a:xfrm>
            <a:off x="10396112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395813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564624" y="517550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733136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733136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809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|  AML  |  NTRO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008815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nhance_HeroHexWatermark_1"/>
          <p:cNvSpPr/>
          <p:nvPr/>
        </p:nvSpPr>
        <p:spPr>
          <a:xfrm>
            <a:off x="8595360" y="45720"/>
            <a:ext cx="164592" cy="164592"/>
          </a:xfrm>
          <a:prstGeom prst="hexagon">
            <a:avLst/>
          </a:prstGeom>
          <a:solidFill>
            <a:srgbClr val="BFDBF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nhance_HeroHexWatermark_2"/>
          <p:cNvSpPr/>
          <p:nvPr/>
        </p:nvSpPr>
        <p:spPr>
          <a:xfrm>
            <a:off x="9098280" y="91440"/>
            <a:ext cx="201168" cy="201168"/>
          </a:xfrm>
          <a:prstGeom prst="hexagon">
            <a:avLst/>
          </a:prstGeom>
          <a:solidFill>
            <a:srgbClr val="BFDBF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nhance_HeroHexWatermark_3"/>
          <p:cNvSpPr/>
          <p:nvPr/>
        </p:nvSpPr>
        <p:spPr>
          <a:xfrm>
            <a:off x="9646920" y="36576"/>
            <a:ext cx="164592" cy="164592"/>
          </a:xfrm>
          <a:prstGeom prst="hexagon">
            <a:avLst/>
          </a:prstGeom>
          <a:solidFill>
            <a:srgbClr val="BFDBFE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nhance_HeroHexWatermark_4"/>
          <p:cNvSpPr/>
          <p:nvPr/>
        </p:nvSpPr>
        <p:spPr>
          <a:xfrm>
            <a:off x="10149840" y="109728"/>
            <a:ext cx="182880" cy="182880"/>
          </a:xfrm>
          <a:prstGeom prst="hexagon">
            <a:avLst/>
          </a:prstGeom>
          <a:solidFill>
            <a:srgbClr val="BFDB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9784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97" name="Enhance_OrbitRing_1"/>
          <p:cNvSpPr/>
          <p:nvPr/>
        </p:nvSpPr>
        <p:spPr>
          <a:xfrm>
            <a:off x="8915400" y="3566160"/>
            <a:ext cx="1645920" cy="1645920"/>
          </a:xfrm>
          <a:prstGeom prst="ellipse">
            <a:avLst/>
          </a:prstGeom>
          <a:noFill/>
          <a:ln w="15875">
            <a:solidFill>
              <a:srgbClr val="2563EB">
                <a:alpha val="2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nhance_OrbitRing_2"/>
          <p:cNvSpPr/>
          <p:nvPr/>
        </p:nvSpPr>
        <p:spPr>
          <a:xfrm>
            <a:off x="8549640" y="3200400"/>
            <a:ext cx="2377440" cy="2377440"/>
          </a:xfrm>
          <a:prstGeom prst="ellipse">
            <a:avLst/>
          </a:prstGeom>
          <a:noFill/>
          <a:ln w="12700">
            <a:solidFill>
              <a:srgbClr val="2563EB">
                <a:alpha val="2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nhance_OrbitRing_3"/>
          <p:cNvSpPr/>
          <p:nvPr/>
        </p:nvSpPr>
        <p:spPr>
          <a:xfrm>
            <a:off x="8229600" y="2880360"/>
            <a:ext cx="3017520" cy="3017520"/>
          </a:xfrm>
          <a:prstGeom prst="ellipse">
            <a:avLst/>
          </a:prstGeom>
          <a:noFill/>
          <a:ln w="9525">
            <a:solidFill>
              <a:srgbClr val="2563EB">
                <a:alpha val="1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hape 35"/>
          <p:cNvSpPr/>
          <p:nvPr/>
        </p:nvSpPr>
        <p:spPr>
          <a:xfrm>
            <a:off x="9564624" y="325526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10505" y="1645920"/>
            <a:ext cx="1371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ldAccentHighlight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AlertXBackdrop"/>
          <p:cNvSpPr/>
          <p:nvPr/>
        </p:nvSpPr>
        <p:spPr>
          <a:xfrm>
            <a:off x="2286000" y="1691640"/>
            <a:ext cx="7616952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>
            <a:outerShdw blurRad="152400" dist="25400" dir="5400000" algn="ctr" rotWithShape="0">
              <a:srgbClr val="000000">
                <a:alpha val="8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nhance_AlertXBackdropTopRule"/>
          <p:cNvSpPr/>
          <p:nvPr/>
        </p:nvSpPr>
        <p:spPr>
          <a:xfrm>
            <a:off x="2286000" y="1691640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nhance_AlertXBackdropBottomRule"/>
          <p:cNvSpPr/>
          <p:nvPr/>
        </p:nvSpPr>
        <p:spPr>
          <a:xfrm>
            <a:off x="2286000" y="2798064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nhance_AlertXBShield"/>
          <p:cNvSpPr/>
          <p:nvPr/>
        </p:nvSpPr>
        <p:spPr>
          <a:xfrm>
            <a:off x="2834640" y="1874519"/>
            <a:ext cx="822960" cy="8229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76200" dist="12700" dir="5400000" algn="ctr" rotWithShape="0">
              <a:srgbClr val="000000">
                <a:alpha val="14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nhance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nhance_FooterLabel"/>
          <p:cNvSpPr/>
          <p:nvPr/>
        </p:nvSpPr>
        <p:spPr>
          <a:xfrm>
            <a:off x="640080" y="6492240"/>
            <a:ext cx="20116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417320" cy="777240"/>
          </a:xfrm>
          <a:prstGeom prst="rect">
            <a:avLst/>
          </a:prstGeom>
          <a:ln>
            <a:noFill/>
          </a:ln>
        </p:spPr>
      </p:pic>
      <p:cxnSp>
        <p:nvCxnSpPr>
          <p:cNvPr id="54" name="Enhance_HeroAccentLine"/>
          <p:cNvCxnSpPr/>
          <p:nvPr/>
        </p:nvCxnSpPr>
        <p:spPr>
          <a:xfrm>
            <a:off x="11155680" y="0"/>
            <a:ext cx="731520" cy="11887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6"/>
          <p:cNvSpPr/>
          <p:nvPr/>
        </p:nvSpPr>
        <p:spPr>
          <a:xfrm>
            <a:off x="0" y="175564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4400" dirty="0"/>
          </a:p>
        </p:txBody>
      </p:sp>
      <p:sp>
        <p:nvSpPr>
          <p:cNvPr id="59" name="Enhance_AlertXBShieldGlyph"/>
          <p:cNvSpPr txBox="1"/>
          <p:nvPr/>
        </p:nvSpPr>
        <p:spPr>
          <a:xfrm>
            <a:off x="2834640" y="1920240"/>
            <a:ext cx="82296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5" name="Shape 42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Enhance_FooterLabelText"/>
          <p:cNvSpPr txBox="1"/>
          <p:nvPr/>
        </p:nvSpPr>
        <p:spPr>
          <a:xfrm>
            <a:off x="713232" y="6492240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Cover -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nhance_S2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nhance_S2_FooterLabelBg"/>
          <p:cNvSpPr/>
          <p:nvPr/>
        </p:nvSpPr>
        <p:spPr>
          <a:xfrm>
            <a:off x="640080" y="6492240"/>
            <a:ext cx="237744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9540" y="506852"/>
            <a:ext cx="4723528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spc="1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9" name="Enhance_S2_TitleTintBand"/>
          <p:cNvSpPr/>
          <p:nvPr/>
        </p:nvSpPr>
        <p:spPr>
          <a:xfrm>
            <a:off x="164592" y="457200"/>
            <a:ext cx="4846320" cy="548640"/>
          </a:xfrm>
          <a:prstGeom prst="rect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nhance_S2_TitleAccentRule"/>
          <p:cNvSpPr/>
          <p:nvPr/>
        </p:nvSpPr>
        <p:spPr>
          <a:xfrm>
            <a:off x="2769717" y="1078992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21" name="Enhance_S2_PillarCard_1"/>
          <p:cNvSpPr/>
          <p:nvPr/>
        </p:nvSpPr>
        <p:spPr>
          <a:xfrm>
            <a:off x="164592" y="12801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nhance_S2_PillarStripe_1"/>
          <p:cNvSpPr/>
          <p:nvPr/>
        </p:nvSpPr>
        <p:spPr>
          <a:xfrm>
            <a:off x="164592" y="1280160"/>
            <a:ext cx="9144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nhance_S2_BgDot_1"/>
          <p:cNvSpPr/>
          <p:nvPr/>
        </p:nvSpPr>
        <p:spPr>
          <a:xfrm>
            <a:off x="411480" y="1298448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nhance_S2_BgDot_2"/>
          <p:cNvSpPr/>
          <p:nvPr/>
        </p:nvSpPr>
        <p:spPr>
          <a:xfrm>
            <a:off x="5029200" y="132588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nhance_S2_BgDot_3"/>
          <p:cNvSpPr/>
          <p:nvPr/>
        </p:nvSpPr>
        <p:spPr>
          <a:xfrm>
            <a:off x="411480" y="2926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nhance_S2_BgDot_4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nhance_S2_BgDot_5"/>
          <p:cNvSpPr/>
          <p:nvPr/>
        </p:nvSpPr>
        <p:spPr>
          <a:xfrm>
            <a:off x="411480" y="39319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nhance_S2_BgDot_6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nhance_S2_BgDot_7"/>
          <p:cNvSpPr/>
          <p:nvPr/>
        </p:nvSpPr>
        <p:spPr>
          <a:xfrm>
            <a:off x="411480" y="4937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nhance_S2_BgDot_8"/>
          <p:cNvSpPr/>
          <p:nvPr/>
        </p:nvSpPr>
        <p:spPr>
          <a:xfrm>
            <a:off x="5029200" y="594360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nhance_S2_BgDot_9"/>
          <p:cNvSpPr/>
          <p:nvPr/>
        </p:nvSpPr>
        <p:spPr>
          <a:xfrm>
            <a:off x="53492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nhance_S2_BgDot_10"/>
          <p:cNvSpPr/>
          <p:nvPr/>
        </p:nvSpPr>
        <p:spPr>
          <a:xfrm>
            <a:off x="119786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nhance_S2_BgDot_11"/>
          <p:cNvSpPr/>
          <p:nvPr/>
        </p:nvSpPr>
        <p:spPr>
          <a:xfrm>
            <a:off x="53492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nhance_S2_BgDot_12"/>
          <p:cNvSpPr/>
          <p:nvPr/>
        </p:nvSpPr>
        <p:spPr>
          <a:xfrm>
            <a:off x="119786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nhance_S2_BgDot_13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nhance_S2_BgDot_1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nhance_S2_BgDot_15"/>
          <p:cNvSpPr/>
          <p:nvPr/>
        </p:nvSpPr>
        <p:spPr>
          <a:xfrm>
            <a:off x="73152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nhance_S2_BgDot_16"/>
          <p:cNvSpPr/>
          <p:nvPr/>
        </p:nvSpPr>
        <p:spPr>
          <a:xfrm>
            <a:off x="100584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nhance_S2_BgDot_17"/>
          <p:cNvSpPr/>
          <p:nvPr/>
        </p:nvSpPr>
        <p:spPr>
          <a:xfrm>
            <a:off x="2743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nhance_S2_BgDot_18"/>
          <p:cNvSpPr/>
          <p:nvPr/>
        </p:nvSpPr>
        <p:spPr>
          <a:xfrm>
            <a:off x="45720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nhance_S2_BgDot_19"/>
          <p:cNvSpPr/>
          <p:nvPr/>
        </p:nvSpPr>
        <p:spPr>
          <a:xfrm>
            <a:off x="7315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nhance_S2_BgDot_20"/>
          <p:cNvSpPr/>
          <p:nvPr/>
        </p:nvSpPr>
        <p:spPr>
          <a:xfrm>
            <a:off x="100584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SYSTEM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200" dirty="0"/>
          </a:p>
        </p:txBody>
      </p:sp>
      <p:sp>
        <p:nvSpPr>
          <p:cNvPr id="23" name="Enhance_S2_PillarCard_2"/>
          <p:cNvSpPr/>
          <p:nvPr/>
        </p:nvSpPr>
        <p:spPr>
          <a:xfrm>
            <a:off x="164592" y="21945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nhance_S2_PillarStripe_2"/>
          <p:cNvSpPr/>
          <p:nvPr/>
        </p:nvSpPr>
        <p:spPr>
          <a:xfrm>
            <a:off x="164592" y="219456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1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200" dirty="0"/>
          </a:p>
        </p:txBody>
      </p:sp>
      <p:sp>
        <p:nvSpPr>
          <p:cNvPr id="25" name="Enhance_S2_PillarCard_3"/>
          <p:cNvSpPr/>
          <p:nvPr/>
        </p:nvSpPr>
        <p:spPr>
          <a:xfrm>
            <a:off x="164592" y="310896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nhance_S2_PillarStripe_3"/>
          <p:cNvSpPr/>
          <p:nvPr/>
        </p:nvSpPr>
        <p:spPr>
          <a:xfrm>
            <a:off x="164592" y="3108960"/>
            <a:ext cx="9144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2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200" dirty="0"/>
          </a:p>
        </p:txBody>
      </p:sp>
      <p:sp>
        <p:nvSpPr>
          <p:cNvPr id="27" name="Enhance_S2_PillarCard_4"/>
          <p:cNvSpPr/>
          <p:nvPr/>
        </p:nvSpPr>
        <p:spPr>
          <a:xfrm>
            <a:off x="164592" y="411480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nhance_S2_PillarStripe_4"/>
          <p:cNvSpPr/>
          <p:nvPr/>
        </p:nvSpPr>
        <p:spPr>
          <a:xfrm>
            <a:off x="164592" y="411480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3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200" dirty="0"/>
          </a:p>
        </p:txBody>
      </p:sp>
      <p:sp>
        <p:nvSpPr>
          <p:cNvPr id="29" name="Enhance_S2_PillarCard_5"/>
          <p:cNvSpPr/>
          <p:nvPr/>
        </p:nvSpPr>
        <p:spPr>
          <a:xfrm>
            <a:off x="164592" y="512064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nhance_S2_PillarStripe_5"/>
          <p:cNvSpPr/>
          <p:nvPr/>
        </p:nvSpPr>
        <p:spPr>
          <a:xfrm>
            <a:off x="164592" y="5120640"/>
            <a:ext cx="914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4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200" dirty="0"/>
          </a:p>
        </p:txBody>
      </p:sp>
      <p:sp>
        <p:nvSpPr>
          <p:cNvPr id="31" name="Enhance_S2_ArchCaptionPill"/>
          <p:cNvSpPr/>
          <p:nvPr/>
        </p:nvSpPr>
        <p:spPr>
          <a:xfrm>
            <a:off x="5349240" y="777240"/>
            <a:ext cx="34747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1106973"/>
            <a:ext cx="6944319" cy="5008626"/>
          </a:xfrm>
          <a:prstGeom prst="rect">
            <a:avLst/>
          </a:prstGeom>
        </p:spPr>
      </p:pic>
      <p:sp>
        <p:nvSpPr>
          <p:cNvPr id="33" name="Enhance_S2_Corner_TL_H"/>
          <p:cNvSpPr/>
          <p:nvPr/>
        </p:nvSpPr>
        <p:spPr>
          <a:xfrm>
            <a:off x="521116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nhance_S2_Corner_TL_V"/>
          <p:cNvSpPr/>
          <p:nvPr/>
        </p:nvSpPr>
        <p:spPr>
          <a:xfrm>
            <a:off x="5211165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nhance_S2_Corner_TR_H"/>
          <p:cNvSpPr/>
          <p:nvPr/>
        </p:nvSpPr>
        <p:spPr>
          <a:xfrm>
            <a:off x="1191737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nhance_S2_Corner_TR_V"/>
          <p:cNvSpPr/>
          <p:nvPr/>
        </p:nvSpPr>
        <p:spPr>
          <a:xfrm>
            <a:off x="12155119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nhance_S2_Corner_BL_H"/>
          <p:cNvSpPr/>
          <p:nvPr/>
        </p:nvSpPr>
        <p:spPr>
          <a:xfrm>
            <a:off x="521116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nhance_S2_Corner_BL_V"/>
          <p:cNvSpPr/>
          <p:nvPr/>
        </p:nvSpPr>
        <p:spPr>
          <a:xfrm>
            <a:off x="5211165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nhance_S2_Corner_BR_H"/>
          <p:cNvSpPr/>
          <p:nvPr/>
        </p:nvSpPr>
        <p:spPr>
          <a:xfrm>
            <a:off x="1191737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nhance_S2_Corner_BR_V"/>
          <p:cNvSpPr/>
          <p:nvPr/>
        </p:nvSpPr>
        <p:spPr>
          <a:xfrm>
            <a:off x="12155119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hape 14"/>
          <p:cNvSpPr/>
          <p:nvPr/>
        </p:nvSpPr>
        <p:spPr>
          <a:xfrm>
            <a:off x="5229453" y="1107338"/>
            <a:ext cx="6943953" cy="5009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ctr" rotWithShape="0">
              <a:srgbClr val="1F3864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Enhance_S2_ArchCaptionText"/>
          <p:cNvSpPr txBox="1"/>
          <p:nvPr/>
        </p:nvSpPr>
        <p:spPr>
          <a:xfrm>
            <a:off x="5349240" y="777240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spc="200">
                <a:solidFill>
                  <a:srgbClr val="FFFFFF"/>
                </a:solidFill>
                <a:latin typeface="Arial"/>
              </a:rPr>
              <a:t>ARCHITECTURE -- BITCOIN AML INTELLIGENCE PIPELINE</a:t>
            </a:r>
          </a:p>
        </p:txBody>
      </p:sp>
      <p:sp>
        <p:nvSpPr>
          <p:cNvPr id="2" name="Shape 0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Enhance_S2_FooterLabelText"/>
          <p:cNvSpPr txBox="1"/>
          <p:nvPr/>
        </p:nvSpPr>
        <p:spPr>
          <a:xfrm>
            <a:off x="713232" y="6492240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Proposed Solution  --  SIH26146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1465" y="51370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16057" y="338326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61722"/>
            <a:ext cx="8229600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3737" y="51938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6177" y="261258"/>
            <a:ext cx="5917852" cy="70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82880" y="1005840"/>
            <a:ext cx="5852160" cy="1708648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Feasibility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" y="1389888"/>
            <a:ext cx="5522976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Technical: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0.141.1 + Next.js 16 + Neo4j 5.26 + PyTorch — fully open-source, no proprietary hardware.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1711747"/>
            <a:ext cx="5522976" cy="331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Modular: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(FastAPI/Celery), graph DB (Neo4j + GDS 2.13), frontend (Next.js) deploy independently.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2012960"/>
            <a:ext cx="5522976" cy="321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Market: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cyber-surveillance mandate + Interpol + FATF travel-rule; growing demand for BTC AML analytics.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233400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Economic: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commodity-CPU node vs $250K–$500K commercial suites — orders-of-magnitude cheaper.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3912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18504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Solutions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18504" y="146304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Air-Gap: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ONNX-exportable models — no GPU, no internet, no cloud dependency.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18504" y="1752356"/>
            <a:ext cx="5522976" cy="484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Algorithm: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+ CIOH heuristics + FT-Transformer — peer-reviewed graph analytics.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18504" y="223723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Training: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 + SMOTE on 18 hand-crafted features — F1 0.6972 anomaly, F1 0.9209 risk.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7472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Viability &amp; Business Potential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7472" y="324612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Production Champion: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FT-Transformer F1 0.6972, AUC 0.9956, 0.0222 ms / inference.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" y="353644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Cost Efficiency: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sub-$1K commodity CPU vs $250K–$500K commercial — extends budget 250×.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" y="382676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Compliance: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court-admissible JSON + PDF dossiers with tamper-evident SHA-256 chain.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47472" y="411708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Resilience: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 — immune to network outages, DDoS, sovereign-cloud risk.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53912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18504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Use Cases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18504" y="324612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NTRO Cyber Analysts: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severity master alert grid + D3 force-graph drilling on suspect wallets.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318504" y="363321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Forensic Investigators: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+ GNNExplainer subgraphs for traceable, defensible case files.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18504" y="402031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Field Officers / Liaison: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JSON / PDF dossier export for courtroom delivery and chain-of-custody.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82880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7472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 Challenges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47472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Synthetic Stream Today: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runs on anonymized ledger traces; live NTRO transaction feed pilot pending.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47472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Edge Hardware: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scripts ready; ruggedised Pi-class node procurement + field hardening in progress.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47472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Multi-Tenant Scale: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multi-NTRO-unit isolation + Celery pool tuning at &gt;100k tx/sec not yet benchmarked.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153912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  <a:effectLst>
            <a:outerShdw blurRad="101600" dist="25400" dir="5400000" algn="ctr" rotWithShape="0">
              <a:srgbClr val="000000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18504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Supporting Facts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18504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11,938 tx/sec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PostgreSQL binary-COPY ingest.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18504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24,673 wallets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9,794 Louvain clusters / 45,516 edges scored.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18504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Graph Transformer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0.9956; 0 / 197 missed high-risk wallets on Ransomwhere seed set.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1003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004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5" name="Text 4"/>
          <p:cNvSpPr/>
          <p:nvPr/>
        </p:nvSpPr>
        <p:spPr>
          <a:xfrm>
            <a:off x="3039540" y="506852"/>
            <a:ext cx="86868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pic>
        <p:nvPicPr>
          <p:cNvPr id="100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07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09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010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011" name="TextBox 1010"/>
          <p:cNvSpPr txBox="1"/>
          <p:nvPr/>
        </p:nvSpPr>
        <p:spPr>
          <a:xfrm>
            <a:off x="365760" y="114300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INDUSTRY PLATFORMS</a:t>
            </a:r>
          </a:p>
        </p:txBody>
      </p:sp>
      <p:cxnSp>
        <p:nvCxnSpPr>
          <p:cNvPr id="1012" name="Connector 1011"/>
          <p:cNvCxnSpPr/>
          <p:nvPr/>
        </p:nvCxnSpPr>
        <p:spPr>
          <a:xfrm>
            <a:off x="365760" y="141732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3" name="Oval 1012"/>
          <p:cNvSpPr/>
          <p:nvPr/>
        </p:nvSpPr>
        <p:spPr>
          <a:xfrm>
            <a:off x="365760" y="16002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566928" y="1527048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Chainalysis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crypto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chainalysis.com</a:t>
            </a:r>
          </a:p>
        </p:txBody>
      </p:sp>
      <p:sp>
        <p:nvSpPr>
          <p:cNvPr id="1015" name="Oval 1014"/>
          <p:cNvSpPr/>
          <p:nvPr/>
        </p:nvSpPr>
        <p:spPr>
          <a:xfrm>
            <a:off x="365760" y="18653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566928" y="1792224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Elliptic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AML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elliptic.co</a:t>
            </a:r>
          </a:p>
        </p:txBody>
      </p:sp>
      <p:sp>
        <p:nvSpPr>
          <p:cNvPr id="1017" name="Oval 1016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66928" y="20574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TRM Labs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intelligence for AML and fraud - </a:t>
            </a:r>
            <a:r>
              <a:rPr sz="1200">
                <a:solidFill>
                  <a:srgbClr val="475569"/>
                </a:solidFill>
                <a:latin typeface="Arial"/>
              </a:rPr>
              <a:t>trmlabs.com</a:t>
            </a:r>
          </a:p>
        </p:txBody>
      </p:sp>
      <p:sp>
        <p:nvSpPr>
          <p:cNvPr id="1019" name="Oval 1018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566928" y="2322576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Crystal Intelligence - </a:t>
            </a:r>
            <a:r>
              <a:rPr sz="1200">
                <a:solidFill>
                  <a:srgbClr val="334155"/>
                </a:solidFill>
                <a:latin typeface="Arial"/>
              </a:rPr>
              <a:t>Digital asset risk intelligence - </a:t>
            </a:r>
            <a:r>
              <a:rPr sz="1200">
                <a:solidFill>
                  <a:srgbClr val="475569"/>
                </a:solidFill>
                <a:latin typeface="Arial"/>
              </a:rPr>
              <a:t>crystalintelligence.com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365760" y="269748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RESEARCH AND BEST PRACTICES</a:t>
            </a:r>
          </a:p>
        </p:txBody>
      </p:sp>
      <p:cxnSp>
        <p:nvCxnSpPr>
          <p:cNvPr id="1022" name="Connector 1021"/>
          <p:cNvCxnSpPr/>
          <p:nvPr/>
        </p:nvCxnSpPr>
        <p:spPr>
          <a:xfrm>
            <a:off x="365760" y="297180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3" name="Oval 1022"/>
          <p:cNvSpPr/>
          <p:nvPr/>
        </p:nvSpPr>
        <p:spPr>
          <a:xfrm>
            <a:off x="365760" y="3154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66928" y="3081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Weber et al., KDD 2019 - </a:t>
            </a:r>
            <a:r>
              <a:rPr sz="1200">
                <a:solidFill>
                  <a:srgbClr val="334155"/>
                </a:solidFill>
                <a:latin typeface="Arial"/>
              </a:rPr>
              <a:t>Anti-Money Laundering in Bitcoin: Experimenting with Graph Convolutional Networks for Financial Forensics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arxiv.org/abs/1908.02591</a:t>
            </a:r>
          </a:p>
        </p:txBody>
      </p:sp>
      <p:sp>
        <p:nvSpPr>
          <p:cNvPr id="1025" name="Oval 1024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TextBox 1025"/>
          <p:cNvSpPr txBox="1"/>
          <p:nvPr/>
        </p:nvSpPr>
        <p:spPr>
          <a:xfrm>
            <a:off x="566928" y="3529584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Kappos et al., arXiv 2022 - </a:t>
            </a:r>
            <a:r>
              <a:rPr sz="1200">
                <a:solidFill>
                  <a:srgbClr val="334155"/>
                </a:solidFill>
                <a:latin typeface="Arial"/>
              </a:rPr>
              <a:t>How to Peel a Million: Validating and Expanding Bitcoin Clusters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arxiv.org/abs/2205.13882</a:t>
            </a:r>
          </a:p>
        </p:txBody>
      </p:sp>
      <p:sp>
        <p:nvSpPr>
          <p:cNvPr id="1027" name="Oval 1026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566928" y="3977640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Schnoering and Vazirgiannis, arXiv 2023 - </a:t>
            </a:r>
            <a:r>
              <a:rPr sz="1200">
                <a:solidFill>
                  <a:srgbClr val="334155"/>
                </a:solidFill>
                <a:latin typeface="Arial"/>
              </a:rPr>
              <a:t>Heuristics for Detecting CoinJoin Transactions on the Bitcoin Blockchain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arxiv.org/abs/2311.12491</a:t>
            </a:r>
          </a:p>
        </p:txBody>
      </p:sp>
      <p:sp>
        <p:nvSpPr>
          <p:cNvPr id="1029" name="Oval 1028"/>
          <p:cNvSpPr/>
          <p:nvPr/>
        </p:nvSpPr>
        <p:spPr>
          <a:xfrm>
            <a:off x="365760" y="44988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66928" y="4425696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FATF 2015/2018/2021 - </a:t>
            </a:r>
            <a:r>
              <a:rPr sz="1200">
                <a:solidFill>
                  <a:srgbClr val="334155"/>
                </a:solidFill>
                <a:latin typeface="Arial"/>
              </a:rPr>
              <a:t>Guidance for a Risk-Based Approach: Virtual Assets and VASPs - </a:t>
            </a:r>
            <a:r>
              <a:rPr sz="1200">
                <a:solidFill>
                  <a:srgbClr val="475569"/>
                </a:solidFill>
                <a:latin typeface="Arial"/>
              </a:rPr>
              <a:t>fatf-gafi.org/en/publications.html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365760" y="498348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FEASIBILITY FACTS</a:t>
            </a:r>
          </a:p>
        </p:txBody>
      </p:sp>
      <p:cxnSp>
        <p:nvCxnSpPr>
          <p:cNvPr id="1032" name="Connector 1031"/>
          <p:cNvCxnSpPr/>
          <p:nvPr/>
        </p:nvCxnSpPr>
        <p:spPr>
          <a:xfrm>
            <a:off x="365760" y="525780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Oval 1032"/>
          <p:cNvSpPr/>
          <p:nvPr/>
        </p:nvSpPr>
        <p:spPr>
          <a:xfrm>
            <a:off x="365760" y="5440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566928" y="5367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Europol IOCTA - </a:t>
            </a:r>
            <a:r>
              <a:rPr sz="1200">
                <a:solidFill>
                  <a:srgbClr val="334155"/>
                </a:solidFill>
                <a:latin typeface="Arial"/>
              </a:rPr>
              <a:t>Annual strategic report covering cryptocurrencies as a cybercrime enabler - </a:t>
            </a:r>
            <a:r>
              <a:rPr sz="1200">
                <a:solidFill>
                  <a:srgbClr val="475569"/>
                </a:solidFill>
                <a:latin typeface="Arial"/>
              </a:rPr>
              <a:t>europol.europa.eu/publications-events/main-reports/iocta-report</a:t>
            </a:r>
          </a:p>
        </p:txBody>
      </p:sp>
      <p:graphicFrame>
        <p:nvGraphicFramePr>
          <p:cNvPr id="1035" name="Table 10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67201"/>
              </p:ext>
            </p:extLst>
          </p:nvPr>
        </p:nvGraphicFramePr>
        <p:xfrm>
          <a:off x="6583680" y="1143000"/>
          <a:ext cx="5349240" cy="482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10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SIH26146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Systems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Real-time Wallet Risk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Peeling-Chain Detection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CoinJoin / Mixing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97706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Air-Gapped CPU-Only Inference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Court-Admissible Forensic Dossier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954</Words>
  <Application>Microsoft Office PowerPoint</Application>
  <PresentationFormat>Widescreen</PresentationFormat>
  <Paragraphs>98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6</cp:revision>
  <dcterms:created xsi:type="dcterms:W3CDTF">2026-09-23T19:08:33Z</dcterms:created>
  <dcterms:modified xsi:type="dcterms:W3CDTF">2026-09-26T00:00:50Z</dcterms:modified>
</cp:coreProperties>
</file>