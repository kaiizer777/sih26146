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9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39540" y="506852"/>
            <a:ext cx="4723528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600" dirty="0"/>
          </a:p>
        </p:txBody>
      </p:sp>
      <p:pic>
        <p:nvPicPr>
          <p:cNvPr id="7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 ·  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" y="2194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1  ·  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4592" y="310896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2  ·  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64592" y="41148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3  ·  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64592" y="51206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4  ·  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1074" y="1106973"/>
            <a:ext cx="6980895" cy="502691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C:\Users\bari2\Desktop\SIH26146\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62" y="1106973"/>
            <a:ext cx="6944319" cy="50086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" y="182880"/>
            <a:ext cx="64008" cy="61209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38817" y="1327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51465" y="51370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16057" y="338326"/>
            <a:ext cx="7452360" cy="57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TECHNICAL APPROACH</a:t>
            </a:r>
            <a:endParaRPr lang="en-US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4757A-6B62-2741-FC03-C36D9C7A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08546"/>
            <a:ext cx="12185522" cy="59494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61722"/>
            <a:ext cx="8229600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9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43737" y="51938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76177" y="261258"/>
            <a:ext cx="5917852" cy="707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182880" y="100584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82880" y="1005840"/>
            <a:ext cx="58521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Feasibility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7472" y="1463040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Technical: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0.141.1 + Next.js 16 + Neo4j 5.26 + PyTorch — fully open-source, no proprietary hardware.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47472" y="1753362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Modular: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(FastAPI/Celery), graph DB (Neo4j + GDS 2.13), frontend (Next.js) deploy independently.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7472" y="2043684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Market: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NTRO cyber-surveillance mandate + Interpol + FATF travel-rule; growing demand for BTC AML analytics.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" y="233400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Economic: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commodity-CPU node vs $250K–$500K commercial suites — orders-of-magnitude cheaper.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53912" y="100584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153912" y="1005840"/>
            <a:ext cx="58521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18504" y="102412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Solutions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318504" y="146304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Air-Gap: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ONNX-exportable models — no GPU, no internet, no cloud dependency.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18504" y="185013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Algorithm: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Louvain community detection + CIOH heuristics + FT-Transformer — peer-reviewed graph analytics.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18504" y="223723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Training: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class-weighted loss + SMOTE on 18 hand-crafted features — F1 0.6972 anomaly, F1 0.9209 risk.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182880" y="2788920"/>
            <a:ext cx="58521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47472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Viability &amp; Business Potential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47472" y="3246120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Production Champion: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FT-Transformer F1 0.6972, AUC 0.9956, 0.0222 ms / inference.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47472" y="3536442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Cost Efficiency: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sub-$1K commodity CPU vs $250K–$500K commercial — extends budget 250×.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7472" y="3826764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Compliance: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court-admissible JSON + PDF dossiers with tamper-evident SHA-256 chain.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47472" y="4117086"/>
            <a:ext cx="5522976" cy="2903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Resilience: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air-gapped — immune to network outages, DDoS, sovereign-cloud risk.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153912" y="278892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153912" y="2788920"/>
            <a:ext cx="585216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18504" y="280720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Use Cases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18504" y="324612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NTRO Cyber Analysts: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severity master alert grid + D3 force-graph drilling on suspect wallets.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318504" y="363321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Forensic Investigators: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+ GNNExplainer subgraphs for traceable, defensible case files.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18504" y="402031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Field Officers / Liaison: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1-click JSON / PDF dossier export for courtroom delivery and chain-of-custody.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182880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182880" y="4572000"/>
            <a:ext cx="58521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347472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 Challenges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347472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Synthetic Stream Today: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runs on anonymized ledger traces; live NTRO transaction feed pilot pending.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47472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Edge Hardware: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scripts ready; ruggedised Pi-class node procurement + field hardening in progress.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47472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Multi-Tenant Scale: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multi-NTRO-unit isolation + Celery pool tuning at &gt;100k tx/sec not yet benchmarked.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153912" y="4572000"/>
            <a:ext cx="585216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153912" y="4572000"/>
            <a:ext cx="585216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318504" y="4590288"/>
            <a:ext cx="5522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Supporting Facts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18504" y="5029200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11,938 tx/sec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PostgreSQL binary-COPY ingest.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318504" y="5416296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24,673 wallets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9,794 Louvain clusters / 45,516 edges scored.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318504" y="5803392"/>
            <a:ext cx="5522976" cy="387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Graph Transformer </a:t>
            </a: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0.9956; 0 / 197 missed high-risk wallets on Ransomwhere seed set.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667</Words>
  <Application>Microsoft Office PowerPoint</Application>
  <PresentationFormat>Widescreen</PresentationFormat>
  <Paragraphs>49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faizan</cp:lastModifiedBy>
  <cp:revision>4</cp:revision>
  <dcterms:created xsi:type="dcterms:W3CDTF">2026-09-23T19:08:33Z</dcterms:created>
  <dcterms:modified xsi:type="dcterms:W3CDTF">2026-09-24T17:44:39Z</dcterms:modified>
</cp:coreProperties>
</file>